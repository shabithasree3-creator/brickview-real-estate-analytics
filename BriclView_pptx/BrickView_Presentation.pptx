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900">
              <a:solidFill>
                <a:srgbClr val="16263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23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Shabitha Sree, and today I'll be presenting my capstone project, BrickView — a Real Estate Analytics Platform. This project brings together Python, Streamlit, MySQL, Pandas and Plotly to turn raw real-estate data into an interactive, decision-ready dashboard. Over the next few minutes I'll walk through the problem I set out to solve, how the system is designed, the database behind it, the features I built, the insights it surfaces, and what I learned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estate generates huge volumes of data — listings, agent records, buyer activity, sales history — but it's usually scattered across spreadsheets, inconsistent in format, and full of duplicates or missing values. That makes it very hard for anyone to quickly filter properties or spot pricing and demand trends. Raw tables alone don't tell a story. BrickView was built to solve exactly this: bring the data into one structured database and present it through an interactive dashboard so patterns become obvious at a glance.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six core objectives, all centered around one goal: turning raw real estate data into actionable insight. First, centralize all the data — listings, agents, buyers and sales — into one MySQL database. Second, automate data cleaning using Python and Pandas. Third, let users explore the data through filters. Fourth, visualize trends with Plotly. Fifth, support full CRUD operations so the data stays live and editable. And finally, surface business insights that help real-estate decision-makers act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BrickView is built on a focused, modern data stack. Python is the core language tying everything together. Streamlit powers the interactive web dashboard with minimal front-end code. MySQL stores and organizes all structured real-estate data. Pandas handles data cleaning and transformation. Plotly generates the interactive charts. And Git and GitHub manage version control and host the project's source code for collaboration and deployment.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data moves through BrickView end to end. It starts with the raw dataset, which goes through a data cleaning stage using Python and Pandas to fix missing values and inconsistencies. The cleaned data is loaded into a MySQL database for structured, relational storage. A Python backend then queries that database and applies the business logic. That logic feeds the Streamlit dashboard, which the user interacts with directly. Finally, that interaction — filtering, exploring, visualizing — produces real business insights for real-estate decision-making.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structured around five relational tables. Listings sits at the center, holding core property records and linking out via foreign keys. Each listing has one set of Property Attributes — bedrooms, area, type and amenities. Every listing is managed by an Agent, a many-to-one relationship since one agent can handle many listings. When a property sells, that's recorded in the Sales table, linked to both the Listing and the Buyer who purchased it. This normalized design keeps data consistent and makes SQL joins straightforward when querying insights.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organized into five key areas. The Home Dashboard gives an instant overview of market KPIs. Filters let users narrow properties by city, price range, and type. The Visualizations page turns that filtered data into interactive Plotly charts. CRUD Operations let users add, edit, or delete listings directly from the interface. And the SQL Queries panel lets a technical user run live queries against the MySQL database. In the actual demo, I'll show a live screenshot or walkthrough for each of these.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sample visualizations generated from the platform. On the top left, average property price by city highlights Mumbai and Bengaluru as the highest-value markets. Top right shows the mix of property types — apartments dominate at roughly half of all listings. Bottom left tracks monthly sales volume, showing a clear upward trend through the middle of the year. Bottom right ranks top-performing agents by closed sales. All of these charts are generated live in the Streamlit dashboard using Plotly, driven directly by the underlying MySQL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BrickView wasn't without its challenges. Integrating the Streamlit app cleanly with MySQL took iteration, especially getting multi-table SQL joins right across listings, agents and sales. Implementing full CRUD operations safely, and structuring smooth navigation in Streamlit, also took real problem-solving — as did designing visualizations that were genuinely informative rather than just decorative. In return, this project strengthened my Python programming, gave me hands-on SQL and database management experience, taught me end-to-end dashboard development, and built my confidence with Git and GitHub for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BrickView successfully delivers on every objective I set out with: an interactive dashboard, rich property analytics, full CRUD operations for managing records, SQL-powered analytics, and real-time data exploration. Together, these pieces turn what used to be scattered spreadsheets into one coherent platform — one that supports both day-to-day property management and higher-level business decision-making.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That brings me to the end of my presentation on BrickView — a Real Estate Analytics Platform built with Python, Streamlit, MySQL, Pandas and Plotly. I'm happy to answer any questions, walk through the live dashboard, or dive deeper into any part of the architecture or database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A4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8F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image" Target="../media/image26.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5394960"/>
            <a:ext cx="365760" cy="1463040"/>
          </a:xfrm>
          <a:prstGeom prst="rect">
            <a:avLst/>
          </a:prstGeom>
          <a:solidFill>
            <a:srgbClr val="0E5C8A">
              <a:alpha val="22000"/>
            </a:srgbClr>
          </a:solidFill>
          <a:ln/>
        </p:spPr>
      </p:sp>
      <p:sp>
        <p:nvSpPr>
          <p:cNvPr id="3" name="Shape 1"/>
          <p:cNvSpPr/>
          <p:nvPr/>
        </p:nvSpPr>
        <p:spPr>
          <a:xfrm>
            <a:off x="9281160" y="4754880"/>
            <a:ext cx="365760" cy="2103120"/>
          </a:xfrm>
          <a:prstGeom prst="rect">
            <a:avLst/>
          </a:prstGeom>
          <a:solidFill>
            <a:srgbClr val="0E5C8A">
              <a:alpha val="22000"/>
            </a:srgbClr>
          </a:solidFill>
          <a:ln/>
        </p:spPr>
      </p:sp>
      <p:sp>
        <p:nvSpPr>
          <p:cNvPr id="4" name="Shape 2"/>
          <p:cNvSpPr/>
          <p:nvPr/>
        </p:nvSpPr>
        <p:spPr>
          <a:xfrm>
            <a:off x="9692640" y="5120640"/>
            <a:ext cx="365760" cy="1737360"/>
          </a:xfrm>
          <a:prstGeom prst="rect">
            <a:avLst/>
          </a:prstGeom>
          <a:solidFill>
            <a:srgbClr val="0E5C8A">
              <a:alpha val="22000"/>
            </a:srgbClr>
          </a:solidFill>
          <a:ln/>
        </p:spPr>
      </p:sp>
      <p:sp>
        <p:nvSpPr>
          <p:cNvPr id="5" name="Shape 3"/>
          <p:cNvSpPr/>
          <p:nvPr/>
        </p:nvSpPr>
        <p:spPr>
          <a:xfrm>
            <a:off x="10104120" y="4206240"/>
            <a:ext cx="365760" cy="2651760"/>
          </a:xfrm>
          <a:prstGeom prst="rect">
            <a:avLst/>
          </a:prstGeom>
          <a:solidFill>
            <a:srgbClr val="0E5C8A">
              <a:alpha val="22000"/>
            </a:srgbClr>
          </a:solidFill>
          <a:ln/>
        </p:spPr>
      </p:sp>
      <p:sp>
        <p:nvSpPr>
          <p:cNvPr id="6" name="Shape 4"/>
          <p:cNvSpPr/>
          <p:nvPr/>
        </p:nvSpPr>
        <p:spPr>
          <a:xfrm>
            <a:off x="10515600" y="4937760"/>
            <a:ext cx="365760" cy="1920240"/>
          </a:xfrm>
          <a:prstGeom prst="rect">
            <a:avLst/>
          </a:prstGeom>
          <a:solidFill>
            <a:srgbClr val="0E5C8A">
              <a:alpha val="22000"/>
            </a:srgbClr>
          </a:solidFill>
          <a:ln/>
        </p:spPr>
      </p:sp>
      <p:sp>
        <p:nvSpPr>
          <p:cNvPr id="7" name="Shape 5"/>
          <p:cNvSpPr/>
          <p:nvPr/>
        </p:nvSpPr>
        <p:spPr>
          <a:xfrm>
            <a:off x="10927080" y="4480560"/>
            <a:ext cx="365760" cy="2377440"/>
          </a:xfrm>
          <a:prstGeom prst="rect">
            <a:avLst/>
          </a:prstGeom>
          <a:solidFill>
            <a:srgbClr val="0E5C8A">
              <a:alpha val="22000"/>
            </a:srgbClr>
          </a:solidFill>
          <a:ln/>
        </p:spPr>
      </p:sp>
      <p:sp>
        <p:nvSpPr>
          <p:cNvPr id="8" name="Shape 6"/>
          <p:cNvSpPr/>
          <p:nvPr/>
        </p:nvSpPr>
        <p:spPr>
          <a:xfrm>
            <a:off x="11338560" y="5303520"/>
            <a:ext cx="365760" cy="1554480"/>
          </a:xfrm>
          <a:prstGeom prst="rect">
            <a:avLst/>
          </a:prstGeom>
          <a:solidFill>
            <a:srgbClr val="0E5C8A">
              <a:alpha val="22000"/>
            </a:srgbClr>
          </a:solidFill>
          <a:ln/>
        </p:spPr>
      </p:sp>
      <p:sp>
        <p:nvSpPr>
          <p:cNvPr id="9" name="Shape 7"/>
          <p:cNvSpPr/>
          <p:nvPr/>
        </p:nvSpPr>
        <p:spPr>
          <a:xfrm>
            <a:off x="11750040" y="4846320"/>
            <a:ext cx="365760" cy="2011680"/>
          </a:xfrm>
          <a:prstGeom prst="rect">
            <a:avLst/>
          </a:prstGeom>
          <a:solidFill>
            <a:srgbClr val="0E5C8A">
              <a:alpha val="22000"/>
            </a:srgbClr>
          </a:solidFill>
          <a:ln/>
        </p:spPr>
      </p:sp>
      <p:sp>
        <p:nvSpPr>
          <p:cNvPr id="10" name="Shape 8"/>
          <p:cNvSpPr/>
          <p:nvPr/>
        </p:nvSpPr>
        <p:spPr>
          <a:xfrm>
            <a:off x="10195560" y="2651760"/>
            <a:ext cx="109728" cy="109728"/>
          </a:xfrm>
          <a:prstGeom prst="rect">
            <a:avLst/>
          </a:prstGeom>
          <a:solidFill>
            <a:srgbClr val="3F8FC4">
              <a:alpha val="45000"/>
            </a:srgbClr>
          </a:solidFill>
          <a:ln/>
        </p:spPr>
      </p:sp>
      <p:sp>
        <p:nvSpPr>
          <p:cNvPr id="11" name="Shape 9"/>
          <p:cNvSpPr/>
          <p:nvPr/>
        </p:nvSpPr>
        <p:spPr>
          <a:xfrm>
            <a:off x="10195560" y="3017520"/>
            <a:ext cx="109728" cy="109728"/>
          </a:xfrm>
          <a:prstGeom prst="rect">
            <a:avLst/>
          </a:prstGeom>
          <a:solidFill>
            <a:srgbClr val="3F8FC4">
              <a:alpha val="45000"/>
            </a:srgbClr>
          </a:solidFill>
          <a:ln/>
        </p:spPr>
      </p:sp>
      <p:sp>
        <p:nvSpPr>
          <p:cNvPr id="12" name="Shape 10"/>
          <p:cNvSpPr/>
          <p:nvPr/>
        </p:nvSpPr>
        <p:spPr>
          <a:xfrm>
            <a:off x="10195560" y="3383280"/>
            <a:ext cx="109728" cy="109728"/>
          </a:xfrm>
          <a:prstGeom prst="rect">
            <a:avLst/>
          </a:prstGeom>
          <a:solidFill>
            <a:srgbClr val="3F8FC4">
              <a:alpha val="45000"/>
            </a:srgbClr>
          </a:solidFill>
          <a:ln/>
        </p:spPr>
      </p:sp>
      <p:sp>
        <p:nvSpPr>
          <p:cNvPr id="13" name="Shape 11"/>
          <p:cNvSpPr/>
          <p:nvPr/>
        </p:nvSpPr>
        <p:spPr>
          <a:xfrm>
            <a:off x="11018520" y="2377440"/>
            <a:ext cx="109728" cy="109728"/>
          </a:xfrm>
          <a:prstGeom prst="rect">
            <a:avLst/>
          </a:prstGeom>
          <a:solidFill>
            <a:srgbClr val="3F8FC4">
              <a:alpha val="45000"/>
            </a:srgbClr>
          </a:solidFill>
          <a:ln/>
        </p:spPr>
      </p:sp>
      <p:sp>
        <p:nvSpPr>
          <p:cNvPr id="14" name="Shape 12"/>
          <p:cNvSpPr/>
          <p:nvPr/>
        </p:nvSpPr>
        <p:spPr>
          <a:xfrm>
            <a:off x="11018520" y="2743200"/>
            <a:ext cx="109728" cy="109728"/>
          </a:xfrm>
          <a:prstGeom prst="rect">
            <a:avLst/>
          </a:prstGeom>
          <a:solidFill>
            <a:srgbClr val="3F8FC4">
              <a:alpha val="45000"/>
            </a:srgbClr>
          </a:solidFill>
          <a:ln/>
        </p:spPr>
      </p:sp>
      <p:sp>
        <p:nvSpPr>
          <p:cNvPr id="15" name="Shape 13"/>
          <p:cNvSpPr/>
          <p:nvPr/>
        </p:nvSpPr>
        <p:spPr>
          <a:xfrm>
            <a:off x="640080" y="594360"/>
            <a:ext cx="777240" cy="777240"/>
          </a:xfrm>
          <a:prstGeom prst="ellipse">
            <a:avLst/>
          </a:prstGeom>
          <a:solidFill>
            <a:srgbClr val="0E5C8A"/>
          </a:solidFill>
          <a:ln/>
        </p:spPr>
      </p:sp>
      <p:pic>
        <p:nvPicPr>
          <p:cNvPr id="16" name="Image 0" descr="/home/claude/brickview/icons/building_w.png"/>
          <p:cNvPicPr>
            <a:picLocks noChangeAspect="1"/>
          </p:cNvPicPr>
          <p:nvPr/>
        </p:nvPicPr>
        <p:blipFill>
          <a:blip r:embed="rId3"/>
          <a:stretch>
            <a:fillRect/>
          </a:stretch>
        </p:blipFill>
        <p:spPr>
          <a:xfrm>
            <a:off x="777240" y="731520"/>
            <a:ext cx="502920" cy="502920"/>
          </a:xfrm>
          <a:prstGeom prst="rect">
            <a:avLst/>
          </a:prstGeom>
        </p:spPr>
      </p:pic>
      <p:sp>
        <p:nvSpPr>
          <p:cNvPr id="17" name="Text 14"/>
          <p:cNvSpPr/>
          <p:nvPr/>
        </p:nvSpPr>
        <p:spPr>
          <a:xfrm>
            <a:off x="640080" y="2331720"/>
            <a:ext cx="7315200" cy="320040"/>
          </a:xfrm>
          <a:prstGeom prst="rect">
            <a:avLst/>
          </a:prstGeom>
          <a:noFill/>
          <a:ln/>
        </p:spPr>
        <p:txBody>
          <a:bodyPr wrap="square" rtlCol="0" anchor="ctr"/>
          <a:lstStyle/>
          <a:p>
            <a:pPr marL="0" indent="0">
              <a:buNone/>
            </a:pPr>
            <a:r>
              <a:rPr lang="en-US" sz="1300" b="1" kern="0" spc="300" dirty="0">
                <a:solidFill>
                  <a:srgbClr val="3F8FC4"/>
                </a:solidFill>
                <a:latin typeface="Calibri" pitchFamily="34" charset="0"/>
                <a:ea typeface="Calibri" pitchFamily="34" charset="-122"/>
                <a:cs typeface="Calibri" pitchFamily="34" charset="-120"/>
              </a:rPr>
              <a:t>CAPSTONE PROJECT  ·  2026</a:t>
            </a:r>
            <a:endParaRPr lang="en-US" sz="1300" dirty="0"/>
          </a:p>
        </p:txBody>
      </p:sp>
      <p:sp>
        <p:nvSpPr>
          <p:cNvPr id="18" name="Text 15"/>
          <p:cNvSpPr/>
          <p:nvPr/>
        </p:nvSpPr>
        <p:spPr>
          <a:xfrm>
            <a:off x="594360" y="2606040"/>
            <a:ext cx="9144000" cy="105156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BrickView</a:t>
            </a:r>
            <a:endParaRPr lang="en-US" sz="6000" dirty="0"/>
          </a:p>
        </p:txBody>
      </p:sp>
      <p:sp>
        <p:nvSpPr>
          <p:cNvPr id="19" name="Text 16"/>
          <p:cNvSpPr/>
          <p:nvPr/>
        </p:nvSpPr>
        <p:spPr>
          <a:xfrm>
            <a:off x="640080" y="3611880"/>
            <a:ext cx="9144000" cy="548640"/>
          </a:xfrm>
          <a:prstGeom prst="rect">
            <a:avLst/>
          </a:prstGeom>
          <a:noFill/>
          <a:ln/>
        </p:spPr>
        <p:txBody>
          <a:bodyPr wrap="square" rtlCol="0" anchor="ctr"/>
          <a:lstStyle/>
          <a:p>
            <a:pPr marL="0" indent="0">
              <a:buNone/>
            </a:pPr>
            <a:r>
              <a:rPr lang="en-US" sz="2200" dirty="0">
                <a:solidFill>
                  <a:srgbClr val="F4F8FB"/>
                </a:solidFill>
                <a:latin typeface="Calibri" pitchFamily="34" charset="0"/>
                <a:ea typeface="Calibri" pitchFamily="34" charset="-122"/>
                <a:cs typeface="Calibri" pitchFamily="34" charset="-120"/>
              </a:rPr>
              <a:t>Real Estate Analytics Platform</a:t>
            </a:r>
            <a:endParaRPr lang="en-US" sz="2200" dirty="0"/>
          </a:p>
        </p:txBody>
      </p:sp>
      <p:sp>
        <p:nvSpPr>
          <p:cNvPr id="20" name="Shape 17"/>
          <p:cNvSpPr/>
          <p:nvPr/>
        </p:nvSpPr>
        <p:spPr>
          <a:xfrm>
            <a:off x="640080" y="4315968"/>
            <a:ext cx="2743200" cy="0"/>
          </a:xfrm>
          <a:prstGeom prst="line">
            <a:avLst/>
          </a:prstGeom>
          <a:noFill/>
          <a:ln w="25400">
            <a:solidFill>
              <a:srgbClr val="17A398"/>
            </a:solidFill>
            <a:prstDash val="solid"/>
          </a:ln>
        </p:spPr>
      </p:sp>
      <p:sp>
        <p:nvSpPr>
          <p:cNvPr id="21" name="Text 18"/>
          <p:cNvSpPr/>
          <p:nvPr/>
        </p:nvSpPr>
        <p:spPr>
          <a:xfrm>
            <a:off x="640080" y="4526280"/>
            <a:ext cx="64008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Developed by  Shabitha Sree S</a:t>
            </a:r>
            <a:endParaRPr lang="en-US" sz="1500" dirty="0"/>
          </a:p>
        </p:txBody>
      </p:sp>
      <p:sp>
        <p:nvSpPr>
          <p:cNvPr id="22" name="Shape 19"/>
          <p:cNvSpPr/>
          <p:nvPr/>
        </p:nvSpPr>
        <p:spPr>
          <a:xfrm>
            <a:off x="640080" y="5029200"/>
            <a:ext cx="886968" cy="384048"/>
          </a:xfrm>
          <a:prstGeom prst="roundRect">
            <a:avLst>
              <a:gd name="adj" fmla="val 50000"/>
            </a:avLst>
          </a:prstGeom>
          <a:solidFill>
            <a:srgbClr val="0B2A4A"/>
          </a:solidFill>
          <a:ln w="12700">
            <a:solidFill>
              <a:srgbClr val="1C7293"/>
            </a:solidFill>
            <a:prstDash val="solid"/>
          </a:ln>
        </p:spPr>
      </p:sp>
      <p:sp>
        <p:nvSpPr>
          <p:cNvPr id="23" name="Text 20"/>
          <p:cNvSpPr/>
          <p:nvPr/>
        </p:nvSpPr>
        <p:spPr>
          <a:xfrm>
            <a:off x="640080" y="5029200"/>
            <a:ext cx="886968"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Python</a:t>
            </a:r>
            <a:endParaRPr lang="en-US" sz="1150" dirty="0"/>
          </a:p>
        </p:txBody>
      </p:sp>
      <p:sp>
        <p:nvSpPr>
          <p:cNvPr id="24" name="Shape 21"/>
          <p:cNvSpPr/>
          <p:nvPr/>
        </p:nvSpPr>
        <p:spPr>
          <a:xfrm>
            <a:off x="1691640" y="5029200"/>
            <a:ext cx="1175004" cy="384048"/>
          </a:xfrm>
          <a:prstGeom prst="roundRect">
            <a:avLst>
              <a:gd name="adj" fmla="val 50000"/>
            </a:avLst>
          </a:prstGeom>
          <a:solidFill>
            <a:srgbClr val="0B2A4A"/>
          </a:solidFill>
          <a:ln w="12700">
            <a:solidFill>
              <a:srgbClr val="1C7293"/>
            </a:solidFill>
            <a:prstDash val="solid"/>
          </a:ln>
        </p:spPr>
      </p:sp>
      <p:sp>
        <p:nvSpPr>
          <p:cNvPr id="25" name="Text 22"/>
          <p:cNvSpPr/>
          <p:nvPr/>
        </p:nvSpPr>
        <p:spPr>
          <a:xfrm>
            <a:off x="1691640" y="5029200"/>
            <a:ext cx="1175004"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Streamlit</a:t>
            </a:r>
            <a:endParaRPr lang="en-US" sz="1150" dirty="0"/>
          </a:p>
        </p:txBody>
      </p:sp>
      <p:sp>
        <p:nvSpPr>
          <p:cNvPr id="26" name="Shape 23"/>
          <p:cNvSpPr/>
          <p:nvPr/>
        </p:nvSpPr>
        <p:spPr>
          <a:xfrm>
            <a:off x="3031236" y="5029200"/>
            <a:ext cx="790956" cy="384048"/>
          </a:xfrm>
          <a:prstGeom prst="roundRect">
            <a:avLst>
              <a:gd name="adj" fmla="val 50000"/>
            </a:avLst>
          </a:prstGeom>
          <a:solidFill>
            <a:srgbClr val="0B2A4A"/>
          </a:solidFill>
          <a:ln w="12700">
            <a:solidFill>
              <a:srgbClr val="1C7293"/>
            </a:solidFill>
            <a:prstDash val="solid"/>
          </a:ln>
        </p:spPr>
      </p:sp>
      <p:sp>
        <p:nvSpPr>
          <p:cNvPr id="27" name="Text 24"/>
          <p:cNvSpPr/>
          <p:nvPr/>
        </p:nvSpPr>
        <p:spPr>
          <a:xfrm>
            <a:off x="3031236" y="5029200"/>
            <a:ext cx="790956"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MySQL</a:t>
            </a:r>
            <a:endParaRPr lang="en-US" sz="1150" dirty="0"/>
          </a:p>
        </p:txBody>
      </p:sp>
      <p:sp>
        <p:nvSpPr>
          <p:cNvPr id="28" name="Shape 25"/>
          <p:cNvSpPr/>
          <p:nvPr/>
        </p:nvSpPr>
        <p:spPr>
          <a:xfrm>
            <a:off x="3986784" y="5029200"/>
            <a:ext cx="886968" cy="384048"/>
          </a:xfrm>
          <a:prstGeom prst="roundRect">
            <a:avLst>
              <a:gd name="adj" fmla="val 50000"/>
            </a:avLst>
          </a:prstGeom>
          <a:solidFill>
            <a:srgbClr val="0B2A4A"/>
          </a:solidFill>
          <a:ln w="12700">
            <a:solidFill>
              <a:srgbClr val="1C7293"/>
            </a:solidFill>
            <a:prstDash val="solid"/>
          </a:ln>
        </p:spPr>
      </p:sp>
      <p:sp>
        <p:nvSpPr>
          <p:cNvPr id="29" name="Text 26"/>
          <p:cNvSpPr/>
          <p:nvPr/>
        </p:nvSpPr>
        <p:spPr>
          <a:xfrm>
            <a:off x="3986784" y="5029200"/>
            <a:ext cx="886968"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Pandas</a:t>
            </a:r>
            <a:endParaRPr lang="en-US" sz="1150" dirty="0"/>
          </a:p>
        </p:txBody>
      </p:sp>
      <p:sp>
        <p:nvSpPr>
          <p:cNvPr id="30" name="Shape 27"/>
          <p:cNvSpPr/>
          <p:nvPr/>
        </p:nvSpPr>
        <p:spPr>
          <a:xfrm>
            <a:off x="5038344" y="5029200"/>
            <a:ext cx="886968" cy="384048"/>
          </a:xfrm>
          <a:prstGeom prst="roundRect">
            <a:avLst>
              <a:gd name="adj" fmla="val 50000"/>
            </a:avLst>
          </a:prstGeom>
          <a:solidFill>
            <a:srgbClr val="0B2A4A"/>
          </a:solidFill>
          <a:ln w="12700">
            <a:solidFill>
              <a:srgbClr val="1C7293"/>
            </a:solidFill>
            <a:prstDash val="solid"/>
          </a:ln>
        </p:spPr>
      </p:sp>
      <p:sp>
        <p:nvSpPr>
          <p:cNvPr id="31" name="Text 28"/>
          <p:cNvSpPr/>
          <p:nvPr/>
        </p:nvSpPr>
        <p:spPr>
          <a:xfrm>
            <a:off x="5038344" y="5029200"/>
            <a:ext cx="886968"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Plotly</a:t>
            </a:r>
            <a:endParaRPr lang="en-US" sz="1150" dirty="0"/>
          </a:p>
        </p:txBody>
      </p:sp>
      <p:sp>
        <p:nvSpPr>
          <p:cNvPr id="32" name="Shape 29"/>
          <p:cNvSpPr/>
          <p:nvPr/>
        </p:nvSpPr>
        <p:spPr>
          <a:xfrm>
            <a:off x="6089904" y="5029200"/>
            <a:ext cx="886968" cy="384048"/>
          </a:xfrm>
          <a:prstGeom prst="roundRect">
            <a:avLst>
              <a:gd name="adj" fmla="val 50000"/>
            </a:avLst>
          </a:prstGeom>
          <a:solidFill>
            <a:srgbClr val="0B2A4A"/>
          </a:solidFill>
          <a:ln w="12700">
            <a:solidFill>
              <a:srgbClr val="1C7293"/>
            </a:solidFill>
            <a:prstDash val="solid"/>
          </a:ln>
        </p:spPr>
      </p:sp>
      <p:sp>
        <p:nvSpPr>
          <p:cNvPr id="33" name="Text 30"/>
          <p:cNvSpPr/>
          <p:nvPr/>
        </p:nvSpPr>
        <p:spPr>
          <a:xfrm>
            <a:off x="6089904" y="5029200"/>
            <a:ext cx="886968" cy="384048"/>
          </a:xfrm>
          <a:prstGeom prst="rect">
            <a:avLst/>
          </a:prstGeom>
          <a:noFill/>
          <a:ln/>
        </p:spPr>
        <p:txBody>
          <a:bodyPr wrap="square" rtlCol="0" anchor="ctr"/>
          <a:lstStyle/>
          <a:p>
            <a:pPr marL="0" indent="0" algn="ctr">
              <a:buNone/>
            </a:pPr>
            <a:r>
              <a:rPr lang="en-US" sz="1150" b="1" dirty="0">
                <a:solidFill>
                  <a:srgbClr val="F4F8FB"/>
                </a:solidFill>
                <a:latin typeface="Calibri" pitchFamily="34" charset="0"/>
                <a:ea typeface="Calibri" pitchFamily="34" charset="-122"/>
                <a:cs typeface="Calibri" pitchFamily="34" charset="-120"/>
              </a:rPr>
              <a:t>GitHub</a:t>
            </a:r>
            <a:endParaRPr lang="en-US" sz="1150" dirty="0"/>
          </a:p>
        </p:txBody>
      </p:sp>
      <p:sp>
        <p:nvSpPr>
          <p:cNvPr id="34" name="Text 31"/>
          <p:cNvSpPr/>
          <p:nvPr/>
        </p:nvSpPr>
        <p:spPr>
          <a:xfrm>
            <a:off x="640080" y="6263640"/>
            <a:ext cx="8229600" cy="274320"/>
          </a:xfrm>
          <a:prstGeom prst="rect">
            <a:avLst/>
          </a:prstGeom>
          <a:noFill/>
          <a:ln/>
        </p:spPr>
        <p:txBody>
          <a:bodyPr wrap="square" rtlCol="0" anchor="ctr"/>
          <a:lstStyle/>
          <a:p>
            <a:pPr marL="0" indent="0">
              <a:buNone/>
            </a:pPr>
            <a:r>
              <a:rPr lang="en-US" sz="1050" i="1" dirty="0">
                <a:solidFill>
                  <a:srgbClr val="5B6B7C"/>
                </a:solidFill>
                <a:latin typeface="Calibri" pitchFamily="34" charset="0"/>
                <a:ea typeface="Calibri" pitchFamily="34" charset="-122"/>
                <a:cs typeface="Calibri" pitchFamily="34" charset="-120"/>
              </a:rPr>
              <a:t>github.com/shabithasree3-creator/BrickView-Real-Estate-Analytics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371600"/>
            <a:ext cx="10607040" cy="548640"/>
          </a:xfrm>
          <a:prstGeom prst="rect">
            <a:avLst/>
          </a:prstGeom>
          <a:noFill/>
          <a:ln/>
        </p:spPr>
        <p:txBody>
          <a:bodyPr wrap="square" rtlCol="0" anchor="ctr"/>
          <a:lstStyle/>
          <a:p>
            <a:pPr marL="0" indent="0">
              <a:buNone/>
            </a:pPr>
            <a:r>
              <a:rPr lang="en-US" sz="1500" dirty="0">
                <a:solidFill>
                  <a:srgbClr val="5B6B7C"/>
                </a:solidFill>
                <a:latin typeface="Calibri" pitchFamily="34" charset="0"/>
                <a:ea typeface="Calibri" pitchFamily="34" charset="-122"/>
                <a:cs typeface="Calibri" pitchFamily="34" charset="-120"/>
              </a:rPr>
              <a:t>Real estate data is large  — making it hard to spot pricing trends, demand patterns, and business opportunities in time to act.</a:t>
            </a:r>
            <a:endParaRPr lang="en-US" sz="1500" dirty="0"/>
          </a:p>
        </p:txBody>
      </p:sp>
      <p:sp>
        <p:nvSpPr>
          <p:cNvPr id="8" name="Text 5"/>
          <p:cNvSpPr/>
          <p:nvPr/>
        </p:nvSpPr>
        <p:spPr>
          <a:xfrm>
            <a:off x="685800" y="3630168"/>
            <a:ext cx="2212848" cy="502920"/>
          </a:xfrm>
          <a:prstGeom prst="rect">
            <a:avLst/>
          </a:prstGeom>
          <a:noFill/>
          <a:ln/>
        </p:spPr>
        <p:txBody>
          <a:bodyPr wrap="square" rtlCol="0" anchor="ctr"/>
          <a:lstStyle/>
          <a:p>
            <a:pPr marL="0" indent="0" algn="ctr">
              <a:buNone/>
            </a:pPr>
            <a:endParaRPr lang="en-US" sz="1500" dirty="0"/>
          </a:p>
        </p:txBody>
      </p:sp>
      <p:sp>
        <p:nvSpPr>
          <p:cNvPr id="9" name="Text 6"/>
          <p:cNvSpPr/>
          <p:nvPr/>
        </p:nvSpPr>
        <p:spPr>
          <a:xfrm>
            <a:off x="731520" y="4160520"/>
            <a:ext cx="2121408" cy="960120"/>
          </a:xfrm>
          <a:prstGeom prst="rect">
            <a:avLst/>
          </a:prstGeom>
          <a:noFill/>
          <a:ln/>
        </p:spPr>
        <p:txBody>
          <a:bodyPr wrap="square" rtlCol="0" anchor="ctr"/>
          <a:lstStyle/>
          <a:p>
            <a:pPr marL="0" indent="0" algn="ctr">
              <a:buNone/>
            </a:pPr>
            <a:endParaRPr lang="en-US" sz="1100" dirty="0"/>
          </a:p>
        </p:txBody>
      </p:sp>
      <p:sp>
        <p:nvSpPr>
          <p:cNvPr id="13" name="Text 9"/>
          <p:cNvSpPr/>
          <p:nvPr/>
        </p:nvSpPr>
        <p:spPr>
          <a:xfrm>
            <a:off x="3392424" y="3630168"/>
            <a:ext cx="2212848" cy="502920"/>
          </a:xfrm>
          <a:prstGeom prst="rect">
            <a:avLst/>
          </a:prstGeom>
          <a:noFill/>
          <a:ln/>
        </p:spPr>
        <p:txBody>
          <a:bodyPr wrap="square" rtlCol="0" anchor="ctr"/>
          <a:lstStyle/>
          <a:p>
            <a:pPr marL="0" indent="0" algn="ctr">
              <a:buNone/>
            </a:pPr>
            <a:endParaRPr lang="en-US" sz="1500" dirty="0"/>
          </a:p>
        </p:txBody>
      </p:sp>
      <p:sp>
        <p:nvSpPr>
          <p:cNvPr id="14" name="Text 10"/>
          <p:cNvSpPr/>
          <p:nvPr/>
        </p:nvSpPr>
        <p:spPr>
          <a:xfrm>
            <a:off x="3438144" y="4160520"/>
            <a:ext cx="2121408" cy="960120"/>
          </a:xfrm>
          <a:prstGeom prst="rect">
            <a:avLst/>
          </a:prstGeom>
          <a:noFill/>
          <a:ln/>
        </p:spPr>
        <p:txBody>
          <a:bodyPr wrap="square" rtlCol="0" anchor="ctr"/>
          <a:lstStyle/>
          <a:p>
            <a:pPr marL="0" indent="0" algn="ctr">
              <a:buNone/>
            </a:pPr>
            <a:endParaRPr lang="en-US" sz="1100" dirty="0"/>
          </a:p>
        </p:txBody>
      </p:sp>
      <p:sp>
        <p:nvSpPr>
          <p:cNvPr id="15" name="Shape 11"/>
          <p:cNvSpPr/>
          <p:nvPr/>
        </p:nvSpPr>
        <p:spPr>
          <a:xfrm>
            <a:off x="2279905" y="2240280"/>
            <a:ext cx="2487168" cy="2880360"/>
          </a:xfrm>
          <a:prstGeom prst="roundRect">
            <a:avLst>
              <a:gd name="adj" fmla="val 3309"/>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6" name="Shape 12"/>
          <p:cNvSpPr/>
          <p:nvPr/>
        </p:nvSpPr>
        <p:spPr>
          <a:xfrm>
            <a:off x="3078635" y="2569464"/>
            <a:ext cx="822960" cy="822960"/>
          </a:xfrm>
          <a:prstGeom prst="ellipse">
            <a:avLst/>
          </a:prstGeom>
          <a:solidFill>
            <a:srgbClr val="0E5C8A"/>
          </a:solidFill>
          <a:ln/>
        </p:spPr>
      </p:sp>
      <p:pic>
        <p:nvPicPr>
          <p:cNvPr id="17" name="Image 2" descr="/home/claude/brickview/icons/search_w.png"/>
          <p:cNvPicPr>
            <a:picLocks noChangeAspect="1"/>
          </p:cNvPicPr>
          <p:nvPr/>
        </p:nvPicPr>
        <p:blipFill>
          <a:blip r:embed="rId3"/>
          <a:stretch>
            <a:fillRect/>
          </a:stretch>
        </p:blipFill>
        <p:spPr>
          <a:xfrm>
            <a:off x="3210003" y="2676449"/>
            <a:ext cx="608990" cy="608990"/>
          </a:xfrm>
          <a:prstGeom prst="rect">
            <a:avLst/>
          </a:prstGeom>
        </p:spPr>
      </p:pic>
      <p:sp>
        <p:nvSpPr>
          <p:cNvPr id="18" name="Text 13"/>
          <p:cNvSpPr/>
          <p:nvPr/>
        </p:nvSpPr>
        <p:spPr>
          <a:xfrm>
            <a:off x="2408074" y="3624698"/>
            <a:ext cx="2212848" cy="502920"/>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No Easy Filtering</a:t>
            </a:r>
            <a:endParaRPr lang="en-US" sz="1500" dirty="0"/>
          </a:p>
        </p:txBody>
      </p:sp>
      <p:sp>
        <p:nvSpPr>
          <p:cNvPr id="19" name="Text 14"/>
          <p:cNvSpPr/>
          <p:nvPr/>
        </p:nvSpPr>
        <p:spPr>
          <a:xfrm>
            <a:off x="2453794" y="4155050"/>
            <a:ext cx="2121408" cy="960120"/>
          </a:xfrm>
          <a:prstGeom prst="rect">
            <a:avLst/>
          </a:prstGeom>
          <a:noFill/>
          <a:ln/>
        </p:spPr>
        <p:txBody>
          <a:bodyPr wrap="square" rtlCol="0" anchor="ctr"/>
          <a:lstStyle/>
          <a:p>
            <a:pPr marL="0" indent="0" algn="ctr">
              <a:buNone/>
            </a:pPr>
            <a:r>
              <a:rPr lang="en-US" sz="1100" dirty="0">
                <a:solidFill>
                  <a:srgbClr val="5B6B7C"/>
                </a:solidFill>
                <a:latin typeface="Calibri" pitchFamily="34" charset="0"/>
                <a:ea typeface="Calibri" pitchFamily="34" charset="-122"/>
                <a:cs typeface="Calibri" pitchFamily="34" charset="-120"/>
              </a:rPr>
              <a:t>Hard to search properties by city, type, price range or amenities</a:t>
            </a:r>
            <a:endParaRPr lang="en-US" sz="1100" dirty="0"/>
          </a:p>
        </p:txBody>
      </p:sp>
      <p:sp>
        <p:nvSpPr>
          <p:cNvPr id="20" name="Shape 15"/>
          <p:cNvSpPr/>
          <p:nvPr/>
        </p:nvSpPr>
        <p:spPr>
          <a:xfrm>
            <a:off x="5876240" y="2272284"/>
            <a:ext cx="2487168" cy="2880360"/>
          </a:xfrm>
          <a:prstGeom prst="roundRect">
            <a:avLst>
              <a:gd name="adj" fmla="val 3309"/>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1" name="Shape 16"/>
          <p:cNvSpPr/>
          <p:nvPr/>
        </p:nvSpPr>
        <p:spPr>
          <a:xfrm>
            <a:off x="6674511" y="2569464"/>
            <a:ext cx="822960" cy="822960"/>
          </a:xfrm>
          <a:prstGeom prst="ellipse">
            <a:avLst/>
          </a:prstGeom>
          <a:solidFill>
            <a:srgbClr val="1C7293"/>
          </a:solidFill>
          <a:ln/>
        </p:spPr>
      </p:sp>
      <p:pic>
        <p:nvPicPr>
          <p:cNvPr id="22" name="Image 3" descr="/home/claude/brickview/icons/monitor_w.png"/>
          <p:cNvPicPr>
            <a:picLocks noChangeAspect="1"/>
          </p:cNvPicPr>
          <p:nvPr/>
        </p:nvPicPr>
        <p:blipFill>
          <a:blip r:embed="rId4"/>
          <a:stretch>
            <a:fillRect/>
          </a:stretch>
        </p:blipFill>
        <p:spPr>
          <a:xfrm>
            <a:off x="6781496" y="2676449"/>
            <a:ext cx="608990" cy="608990"/>
          </a:xfrm>
          <a:prstGeom prst="rect">
            <a:avLst/>
          </a:prstGeom>
        </p:spPr>
      </p:pic>
      <p:sp>
        <p:nvSpPr>
          <p:cNvPr id="23" name="Text 17"/>
          <p:cNvSpPr/>
          <p:nvPr/>
        </p:nvSpPr>
        <p:spPr>
          <a:xfrm>
            <a:off x="5979567" y="3605479"/>
            <a:ext cx="2212848" cy="502920"/>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No Visual Insight</a:t>
            </a:r>
            <a:endParaRPr lang="en-US" sz="1500" dirty="0"/>
          </a:p>
        </p:txBody>
      </p:sp>
      <p:sp>
        <p:nvSpPr>
          <p:cNvPr id="24" name="Text 18"/>
          <p:cNvSpPr/>
          <p:nvPr/>
        </p:nvSpPr>
        <p:spPr>
          <a:xfrm>
            <a:off x="6025287" y="4173305"/>
            <a:ext cx="2121408" cy="960120"/>
          </a:xfrm>
          <a:prstGeom prst="rect">
            <a:avLst/>
          </a:prstGeom>
          <a:noFill/>
          <a:ln/>
        </p:spPr>
        <p:txBody>
          <a:bodyPr wrap="square" rtlCol="0" anchor="ctr"/>
          <a:lstStyle/>
          <a:p>
            <a:pPr marL="0" indent="0" algn="ctr">
              <a:buNone/>
            </a:pPr>
            <a:r>
              <a:rPr lang="en-US" sz="1100" dirty="0">
                <a:solidFill>
                  <a:srgbClr val="5B6B7C"/>
                </a:solidFill>
                <a:latin typeface="Calibri" pitchFamily="34" charset="0"/>
                <a:ea typeface="Calibri" pitchFamily="34" charset="-122"/>
                <a:cs typeface="Calibri" pitchFamily="34" charset="-120"/>
              </a:rPr>
              <a:t>Raw tables don't reveal trends — decisions need visuals, not rows</a:t>
            </a:r>
            <a:endParaRPr lang="en-US" sz="1100" dirty="0"/>
          </a:p>
        </p:txBody>
      </p:sp>
      <p:sp>
        <p:nvSpPr>
          <p:cNvPr id="25" name="Text 19"/>
          <p:cNvSpPr/>
          <p:nvPr/>
        </p:nvSpPr>
        <p:spPr>
          <a:xfrm>
            <a:off x="548640" y="5440680"/>
            <a:ext cx="10607040" cy="457200"/>
          </a:xfrm>
          <a:prstGeom prst="rect">
            <a:avLst/>
          </a:prstGeom>
          <a:noFill/>
          <a:ln/>
        </p:spPr>
        <p:txBody>
          <a:bodyPr wrap="square" rtlCol="0" anchor="ctr"/>
          <a:lstStyle/>
          <a:p>
            <a:pPr marL="0" indent="0" algn="ctr">
              <a:buNone/>
            </a:pPr>
            <a:r>
              <a:rPr lang="en-US" sz="1300" i="1" dirty="0">
                <a:solidFill>
                  <a:srgbClr val="0E5C8A"/>
                </a:solidFill>
                <a:latin typeface="Calibri" pitchFamily="34" charset="0"/>
                <a:ea typeface="Calibri" pitchFamily="34" charset="-122"/>
                <a:cs typeface="Calibri" pitchFamily="34" charset="-120"/>
              </a:rPr>
              <a:t>BrickView solves this by consolidating data into a structured MySQL database and delivering it through an interactive analytics dashboard.</a:t>
            </a:r>
            <a:endParaRPr lang="en-US" sz="1300" dirty="0"/>
          </a:p>
        </p:txBody>
      </p:sp>
      <p:sp>
        <p:nvSpPr>
          <p:cNvPr id="26"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Problem Statement</a:t>
            </a:r>
            <a:endParaRPr lang="en-US" sz="900" dirty="0"/>
          </a:p>
        </p:txBody>
      </p:sp>
      <p:sp>
        <p:nvSpPr>
          <p:cNvPr id="27"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
        <p:nvSpPr>
          <p:cNvPr id="28" name="Text 22"/>
          <p:cNvSpPr/>
          <p:nvPr/>
        </p:nvSpPr>
        <p:spPr>
          <a:xfrm>
            <a:off x="4722876" y="6473952"/>
            <a:ext cx="2743200" cy="274320"/>
          </a:xfrm>
          <a:prstGeom prst="rect">
            <a:avLst/>
          </a:prstGeom>
          <a:noFill/>
          <a:ln/>
        </p:spPr>
        <p:txBody>
          <a:bodyPr wrap="square" rtlCol="0" anchor="ctr"/>
          <a:lstStyle/>
          <a:p>
            <a:pPr marL="0" indent="0" algn="ctr">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PROJECT GOALS</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1746012" y="2197624"/>
            <a:ext cx="1865376" cy="1865376"/>
          </a:xfrm>
          <a:prstGeom prst="ellipse">
            <a:avLst/>
          </a:prstGeom>
          <a:solidFill>
            <a:srgbClr val="0B2A4A"/>
          </a:solidFill>
          <a:ln/>
          <a:effectLst>
            <a:outerShdw blurRad="177800" dist="50800" dir="5400000" algn="bl" rotWithShape="0">
              <a:srgbClr val="0B2A4A">
                <a:alpha val="35000"/>
              </a:srgbClr>
            </a:outerShdw>
          </a:effectLst>
        </p:spPr>
      </p:sp>
      <p:pic>
        <p:nvPicPr>
          <p:cNvPr id="5" name="Image 0" descr="/home/claude/brickview/icons/target_w.png"/>
          <p:cNvPicPr>
            <a:picLocks noChangeAspect="1"/>
          </p:cNvPicPr>
          <p:nvPr/>
        </p:nvPicPr>
        <p:blipFill>
          <a:blip r:embed="rId3"/>
          <a:stretch>
            <a:fillRect/>
          </a:stretch>
        </p:blipFill>
        <p:spPr>
          <a:xfrm>
            <a:off x="2340472" y="2563384"/>
            <a:ext cx="768096" cy="768096"/>
          </a:xfrm>
          <a:prstGeom prst="rect">
            <a:avLst/>
          </a:prstGeom>
        </p:spPr>
      </p:pic>
      <p:sp>
        <p:nvSpPr>
          <p:cNvPr id="6" name="Text 3"/>
          <p:cNvSpPr/>
          <p:nvPr/>
        </p:nvSpPr>
        <p:spPr>
          <a:xfrm>
            <a:off x="1718580" y="3386344"/>
            <a:ext cx="1920240" cy="50292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BrickView</a:t>
            </a:r>
            <a:endParaRPr lang="en-US" sz="1300" dirty="0"/>
          </a:p>
          <a:p>
            <a:pPr marL="0" indent="0" algn="ctr">
              <a:buNone/>
            </a:pPr>
            <a:r>
              <a:rPr lang="en-US" sz="1300" b="1" dirty="0">
                <a:solidFill>
                  <a:srgbClr val="0B2A4A"/>
                </a:solidFill>
                <a:latin typeface="Cambria" pitchFamily="34" charset="0"/>
                <a:ea typeface="Cambria" pitchFamily="34" charset="-122"/>
                <a:cs typeface="Cambria" pitchFamily="34" charset="-120"/>
              </a:rPr>
              <a:t>Goals</a:t>
            </a:r>
            <a:endParaRPr lang="en-US" sz="1300" dirty="0"/>
          </a:p>
        </p:txBody>
      </p:sp>
      <p:sp>
        <p:nvSpPr>
          <p:cNvPr id="7" name="Shape 4"/>
          <p:cNvSpPr/>
          <p:nvPr/>
        </p:nvSpPr>
        <p:spPr>
          <a:xfrm flipV="1">
            <a:off x="3533524" y="1792224"/>
            <a:ext cx="901316" cy="949468"/>
          </a:xfrm>
          <a:prstGeom prst="line">
            <a:avLst/>
          </a:prstGeom>
          <a:noFill/>
          <a:ln w="25400">
            <a:solidFill>
              <a:srgbClr val="D8E4EE"/>
            </a:solidFill>
            <a:prstDash val="solid"/>
          </a:ln>
        </p:spPr>
      </p:sp>
      <p:sp>
        <p:nvSpPr>
          <p:cNvPr id="8" name="Shape 5"/>
          <p:cNvSpPr/>
          <p:nvPr/>
        </p:nvSpPr>
        <p:spPr>
          <a:xfrm>
            <a:off x="3734692" y="387950"/>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9" name="Shape 6"/>
          <p:cNvSpPr/>
          <p:nvPr/>
        </p:nvSpPr>
        <p:spPr>
          <a:xfrm>
            <a:off x="3935860" y="817718"/>
            <a:ext cx="621792" cy="621792"/>
          </a:xfrm>
          <a:prstGeom prst="ellipse">
            <a:avLst/>
          </a:prstGeom>
          <a:solidFill>
            <a:srgbClr val="0E5C8A"/>
          </a:solidFill>
          <a:ln/>
        </p:spPr>
      </p:sp>
      <p:pic>
        <p:nvPicPr>
          <p:cNvPr id="10" name="Image 1" descr="/home/claude/brickview/icons/database_w.png"/>
          <p:cNvPicPr>
            <a:picLocks noChangeAspect="1"/>
          </p:cNvPicPr>
          <p:nvPr/>
        </p:nvPicPr>
        <p:blipFill>
          <a:blip r:embed="rId4"/>
          <a:stretch>
            <a:fillRect/>
          </a:stretch>
        </p:blipFill>
        <p:spPr>
          <a:xfrm>
            <a:off x="4016693" y="898551"/>
            <a:ext cx="460126" cy="460126"/>
          </a:xfrm>
          <a:prstGeom prst="rect">
            <a:avLst/>
          </a:prstGeom>
        </p:spPr>
      </p:pic>
      <p:sp>
        <p:nvSpPr>
          <p:cNvPr id="11" name="Text 7"/>
          <p:cNvSpPr/>
          <p:nvPr/>
        </p:nvSpPr>
        <p:spPr>
          <a:xfrm>
            <a:off x="4694812" y="552542"/>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Centralize Data</a:t>
            </a:r>
            <a:endParaRPr lang="en-US" sz="1350" dirty="0"/>
          </a:p>
        </p:txBody>
      </p:sp>
      <p:sp>
        <p:nvSpPr>
          <p:cNvPr id="12" name="Text 8"/>
          <p:cNvSpPr/>
          <p:nvPr/>
        </p:nvSpPr>
        <p:spPr>
          <a:xfrm>
            <a:off x="4694812" y="918302"/>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Consolidate listings, agents, buyers &amp; sales into one MySQL database</a:t>
            </a:r>
            <a:endParaRPr lang="en-US" sz="1000" dirty="0"/>
          </a:p>
        </p:txBody>
      </p:sp>
      <p:sp>
        <p:nvSpPr>
          <p:cNvPr id="13" name="Shape 9"/>
          <p:cNvSpPr/>
          <p:nvPr/>
        </p:nvSpPr>
        <p:spPr>
          <a:xfrm flipV="1">
            <a:off x="3611388" y="1792224"/>
            <a:ext cx="3840972" cy="1354868"/>
          </a:xfrm>
          <a:prstGeom prst="line">
            <a:avLst/>
          </a:prstGeom>
          <a:noFill/>
          <a:ln w="25400">
            <a:solidFill>
              <a:srgbClr val="D8E4EE"/>
            </a:solidFill>
            <a:prstDash val="solid"/>
          </a:ln>
        </p:spPr>
      </p:sp>
      <p:sp>
        <p:nvSpPr>
          <p:cNvPr id="14" name="Shape 10"/>
          <p:cNvSpPr/>
          <p:nvPr/>
        </p:nvSpPr>
        <p:spPr>
          <a:xfrm>
            <a:off x="7452360" y="758495"/>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5" name="Shape 11"/>
          <p:cNvSpPr/>
          <p:nvPr/>
        </p:nvSpPr>
        <p:spPr>
          <a:xfrm>
            <a:off x="7653528" y="1188263"/>
            <a:ext cx="621792" cy="621792"/>
          </a:xfrm>
          <a:prstGeom prst="ellipse">
            <a:avLst/>
          </a:prstGeom>
          <a:solidFill>
            <a:srgbClr val="1C7293"/>
          </a:solidFill>
          <a:ln/>
        </p:spPr>
      </p:sp>
      <p:pic>
        <p:nvPicPr>
          <p:cNvPr id="16" name="Image 2" descr="/home/claude/brickview/icons/code_w.png"/>
          <p:cNvPicPr>
            <a:picLocks noChangeAspect="1"/>
          </p:cNvPicPr>
          <p:nvPr/>
        </p:nvPicPr>
        <p:blipFill>
          <a:blip r:embed="rId5"/>
          <a:stretch>
            <a:fillRect/>
          </a:stretch>
        </p:blipFill>
        <p:spPr>
          <a:xfrm>
            <a:off x="7734361" y="1269096"/>
            <a:ext cx="460126" cy="460126"/>
          </a:xfrm>
          <a:prstGeom prst="rect">
            <a:avLst/>
          </a:prstGeom>
        </p:spPr>
      </p:pic>
      <p:sp>
        <p:nvSpPr>
          <p:cNvPr id="17" name="Text 12"/>
          <p:cNvSpPr/>
          <p:nvPr/>
        </p:nvSpPr>
        <p:spPr>
          <a:xfrm>
            <a:off x="8412480" y="923087"/>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Automate Cleaning</a:t>
            </a:r>
            <a:endParaRPr lang="en-US" sz="1350" dirty="0"/>
          </a:p>
        </p:txBody>
      </p:sp>
      <p:sp>
        <p:nvSpPr>
          <p:cNvPr id="18" name="Text 13"/>
          <p:cNvSpPr/>
          <p:nvPr/>
        </p:nvSpPr>
        <p:spPr>
          <a:xfrm>
            <a:off x="8412480" y="1288847"/>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Use Python &amp; Pandas to clean and standardize raw datasets</a:t>
            </a:r>
            <a:endParaRPr lang="en-US" sz="1000" dirty="0"/>
          </a:p>
        </p:txBody>
      </p:sp>
      <p:sp>
        <p:nvSpPr>
          <p:cNvPr id="19" name="Shape 14"/>
          <p:cNvSpPr/>
          <p:nvPr/>
        </p:nvSpPr>
        <p:spPr>
          <a:xfrm flipV="1">
            <a:off x="3679426" y="3072384"/>
            <a:ext cx="6104653" cy="300244"/>
          </a:xfrm>
          <a:prstGeom prst="line">
            <a:avLst/>
          </a:prstGeom>
          <a:noFill/>
          <a:ln w="25400">
            <a:solidFill>
              <a:srgbClr val="D8E4EE"/>
            </a:solidFill>
            <a:prstDash val="solid"/>
          </a:ln>
        </p:spPr>
      </p:sp>
      <p:sp>
        <p:nvSpPr>
          <p:cNvPr id="20" name="Shape 15"/>
          <p:cNvSpPr/>
          <p:nvPr/>
        </p:nvSpPr>
        <p:spPr>
          <a:xfrm>
            <a:off x="8978916" y="2331720"/>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1" name="Shape 16"/>
          <p:cNvSpPr/>
          <p:nvPr/>
        </p:nvSpPr>
        <p:spPr>
          <a:xfrm>
            <a:off x="9148080" y="2761488"/>
            <a:ext cx="621792" cy="621792"/>
          </a:xfrm>
          <a:prstGeom prst="ellipse">
            <a:avLst/>
          </a:prstGeom>
          <a:solidFill>
            <a:srgbClr val="17A398"/>
          </a:solidFill>
          <a:ln/>
        </p:spPr>
      </p:sp>
      <p:pic>
        <p:nvPicPr>
          <p:cNvPr id="22" name="Image 3" descr="/home/claude/brickview/icons/filter_w.png"/>
          <p:cNvPicPr>
            <a:picLocks noChangeAspect="1"/>
          </p:cNvPicPr>
          <p:nvPr/>
        </p:nvPicPr>
        <p:blipFill>
          <a:blip r:embed="rId6"/>
          <a:stretch>
            <a:fillRect/>
          </a:stretch>
        </p:blipFill>
        <p:spPr>
          <a:xfrm>
            <a:off x="9228913" y="2842321"/>
            <a:ext cx="460126" cy="460126"/>
          </a:xfrm>
          <a:prstGeom prst="rect">
            <a:avLst/>
          </a:prstGeom>
        </p:spPr>
      </p:pic>
      <p:sp>
        <p:nvSpPr>
          <p:cNvPr id="23" name="Text 17"/>
          <p:cNvSpPr/>
          <p:nvPr/>
        </p:nvSpPr>
        <p:spPr>
          <a:xfrm>
            <a:off x="9939036" y="2496312"/>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Enable Exploration</a:t>
            </a:r>
            <a:endParaRPr lang="en-US" sz="1350" dirty="0"/>
          </a:p>
        </p:txBody>
      </p:sp>
      <p:sp>
        <p:nvSpPr>
          <p:cNvPr id="24" name="Text 18"/>
          <p:cNvSpPr/>
          <p:nvPr/>
        </p:nvSpPr>
        <p:spPr>
          <a:xfrm>
            <a:off x="9939036" y="2862072"/>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Let users filter &amp; search properties by city, type and price</a:t>
            </a:r>
            <a:endParaRPr lang="en-US" sz="1000" dirty="0"/>
          </a:p>
        </p:txBody>
      </p:sp>
      <p:sp>
        <p:nvSpPr>
          <p:cNvPr id="25" name="Shape 19"/>
          <p:cNvSpPr/>
          <p:nvPr/>
        </p:nvSpPr>
        <p:spPr>
          <a:xfrm>
            <a:off x="3611388" y="3541699"/>
            <a:ext cx="6172692" cy="1908125"/>
          </a:xfrm>
          <a:prstGeom prst="line">
            <a:avLst/>
          </a:prstGeom>
          <a:noFill/>
          <a:ln w="25400">
            <a:solidFill>
              <a:srgbClr val="D8E4EE"/>
            </a:solidFill>
            <a:prstDash val="solid"/>
          </a:ln>
        </p:spPr>
      </p:sp>
      <p:sp>
        <p:nvSpPr>
          <p:cNvPr id="26" name="Shape 20"/>
          <p:cNvSpPr/>
          <p:nvPr/>
        </p:nvSpPr>
        <p:spPr>
          <a:xfrm>
            <a:off x="8939000" y="4201668"/>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7" name="Shape 21"/>
          <p:cNvSpPr/>
          <p:nvPr/>
        </p:nvSpPr>
        <p:spPr>
          <a:xfrm>
            <a:off x="9140168" y="4631436"/>
            <a:ext cx="621792" cy="621792"/>
          </a:xfrm>
          <a:prstGeom prst="ellipse">
            <a:avLst/>
          </a:prstGeom>
          <a:solidFill>
            <a:srgbClr val="3F8FC4"/>
          </a:solidFill>
          <a:ln/>
        </p:spPr>
      </p:sp>
      <p:pic>
        <p:nvPicPr>
          <p:cNvPr id="28" name="Image 4" descr="/home/claude/brickview/icons/barchart_w.png"/>
          <p:cNvPicPr>
            <a:picLocks noChangeAspect="1"/>
          </p:cNvPicPr>
          <p:nvPr/>
        </p:nvPicPr>
        <p:blipFill>
          <a:blip r:embed="rId7"/>
          <a:stretch>
            <a:fillRect/>
          </a:stretch>
        </p:blipFill>
        <p:spPr>
          <a:xfrm>
            <a:off x="9221001" y="4712269"/>
            <a:ext cx="460126" cy="460126"/>
          </a:xfrm>
          <a:prstGeom prst="rect">
            <a:avLst/>
          </a:prstGeom>
        </p:spPr>
      </p:pic>
      <p:sp>
        <p:nvSpPr>
          <p:cNvPr id="29" name="Text 22"/>
          <p:cNvSpPr/>
          <p:nvPr/>
        </p:nvSpPr>
        <p:spPr>
          <a:xfrm>
            <a:off x="9899120" y="4366260"/>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Visualize Trends</a:t>
            </a:r>
            <a:endParaRPr lang="en-US" sz="1350" dirty="0"/>
          </a:p>
        </p:txBody>
      </p:sp>
      <p:sp>
        <p:nvSpPr>
          <p:cNvPr id="30" name="Text 23"/>
          <p:cNvSpPr/>
          <p:nvPr/>
        </p:nvSpPr>
        <p:spPr>
          <a:xfrm>
            <a:off x="9899120" y="4732020"/>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Turn data into interactive Plotly charts and dashboards</a:t>
            </a:r>
            <a:endParaRPr lang="en-US" sz="1000" dirty="0"/>
          </a:p>
        </p:txBody>
      </p:sp>
      <p:sp>
        <p:nvSpPr>
          <p:cNvPr id="31" name="Shape 24"/>
          <p:cNvSpPr/>
          <p:nvPr/>
        </p:nvSpPr>
        <p:spPr>
          <a:xfrm>
            <a:off x="3447741" y="3813049"/>
            <a:ext cx="4004619" cy="2734056"/>
          </a:xfrm>
          <a:prstGeom prst="line">
            <a:avLst/>
          </a:prstGeom>
          <a:noFill/>
          <a:ln w="25400">
            <a:solidFill>
              <a:srgbClr val="D8E4EE"/>
            </a:solidFill>
            <a:prstDash val="solid"/>
          </a:ln>
        </p:spPr>
      </p:sp>
      <p:sp>
        <p:nvSpPr>
          <p:cNvPr id="32" name="Shape 25"/>
          <p:cNvSpPr/>
          <p:nvPr/>
        </p:nvSpPr>
        <p:spPr>
          <a:xfrm>
            <a:off x="6126480" y="5293834"/>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3" name="Shape 26"/>
          <p:cNvSpPr/>
          <p:nvPr/>
        </p:nvSpPr>
        <p:spPr>
          <a:xfrm>
            <a:off x="6327648" y="5723602"/>
            <a:ext cx="621792" cy="621792"/>
          </a:xfrm>
          <a:prstGeom prst="ellipse">
            <a:avLst/>
          </a:prstGeom>
          <a:solidFill>
            <a:srgbClr val="0E5C8A"/>
          </a:solidFill>
          <a:ln/>
        </p:spPr>
      </p:sp>
      <p:pic>
        <p:nvPicPr>
          <p:cNvPr id="34" name="Image 5" descr="/home/claude/brickview/icons/edit_w.png"/>
          <p:cNvPicPr>
            <a:picLocks noChangeAspect="1"/>
          </p:cNvPicPr>
          <p:nvPr/>
        </p:nvPicPr>
        <p:blipFill>
          <a:blip r:embed="rId8"/>
          <a:stretch>
            <a:fillRect/>
          </a:stretch>
        </p:blipFill>
        <p:spPr>
          <a:xfrm>
            <a:off x="6408481" y="5804435"/>
            <a:ext cx="460126" cy="460126"/>
          </a:xfrm>
          <a:prstGeom prst="rect">
            <a:avLst/>
          </a:prstGeom>
        </p:spPr>
      </p:pic>
      <p:sp>
        <p:nvSpPr>
          <p:cNvPr id="35" name="Text 27"/>
          <p:cNvSpPr/>
          <p:nvPr/>
        </p:nvSpPr>
        <p:spPr>
          <a:xfrm>
            <a:off x="7086600" y="5458426"/>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Support CRUD</a:t>
            </a:r>
            <a:endParaRPr lang="en-US" sz="1350" dirty="0"/>
          </a:p>
        </p:txBody>
      </p:sp>
      <p:sp>
        <p:nvSpPr>
          <p:cNvPr id="36" name="Text 28"/>
          <p:cNvSpPr/>
          <p:nvPr/>
        </p:nvSpPr>
        <p:spPr>
          <a:xfrm>
            <a:off x="7086600" y="5824186"/>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Allow create, read, update &amp; delete on real estate records</a:t>
            </a:r>
            <a:endParaRPr lang="en-US" sz="1000" dirty="0"/>
          </a:p>
        </p:txBody>
      </p:sp>
      <p:sp>
        <p:nvSpPr>
          <p:cNvPr id="37" name="Shape 29"/>
          <p:cNvSpPr/>
          <p:nvPr/>
        </p:nvSpPr>
        <p:spPr>
          <a:xfrm>
            <a:off x="3084907" y="4044619"/>
            <a:ext cx="282001" cy="954133"/>
          </a:xfrm>
          <a:prstGeom prst="line">
            <a:avLst/>
          </a:prstGeom>
          <a:noFill/>
          <a:ln w="25400">
            <a:solidFill>
              <a:srgbClr val="D8E4EE"/>
            </a:solidFill>
            <a:prstDash val="solid"/>
          </a:ln>
        </p:spPr>
      </p:sp>
      <p:sp>
        <p:nvSpPr>
          <p:cNvPr id="38" name="Shape 30"/>
          <p:cNvSpPr/>
          <p:nvPr/>
        </p:nvSpPr>
        <p:spPr>
          <a:xfrm>
            <a:off x="1979676" y="4980510"/>
            <a:ext cx="2697480" cy="1481328"/>
          </a:xfrm>
          <a:prstGeom prst="roundRect">
            <a:avLst>
              <a:gd name="adj" fmla="val 555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9" name="Shape 31"/>
          <p:cNvSpPr/>
          <p:nvPr/>
        </p:nvSpPr>
        <p:spPr>
          <a:xfrm>
            <a:off x="2180844" y="5410278"/>
            <a:ext cx="621792" cy="621792"/>
          </a:xfrm>
          <a:prstGeom prst="ellipse">
            <a:avLst/>
          </a:prstGeom>
          <a:solidFill>
            <a:srgbClr val="1C7293"/>
          </a:solidFill>
          <a:ln/>
        </p:spPr>
      </p:sp>
      <p:pic>
        <p:nvPicPr>
          <p:cNvPr id="40" name="Image 6" descr="/home/claude/brickview/icons/trendUp_c.png"/>
          <p:cNvPicPr>
            <a:picLocks noChangeAspect="1"/>
          </p:cNvPicPr>
          <p:nvPr/>
        </p:nvPicPr>
        <p:blipFill>
          <a:blip r:embed="rId9"/>
          <a:stretch>
            <a:fillRect/>
          </a:stretch>
        </p:blipFill>
        <p:spPr>
          <a:xfrm>
            <a:off x="2261677" y="5491111"/>
            <a:ext cx="460126" cy="460126"/>
          </a:xfrm>
          <a:prstGeom prst="rect">
            <a:avLst/>
          </a:prstGeom>
        </p:spPr>
      </p:pic>
      <p:sp>
        <p:nvSpPr>
          <p:cNvPr id="41" name="Text 32"/>
          <p:cNvSpPr/>
          <p:nvPr/>
        </p:nvSpPr>
        <p:spPr>
          <a:xfrm>
            <a:off x="2939796" y="5145102"/>
            <a:ext cx="1600200" cy="365760"/>
          </a:xfrm>
          <a:prstGeom prst="rect">
            <a:avLst/>
          </a:prstGeom>
          <a:noFill/>
          <a:ln/>
        </p:spPr>
        <p:txBody>
          <a:bodyPr wrap="square" rtlCol="0" anchor="ctr"/>
          <a:lstStyle/>
          <a:p>
            <a:pPr marL="0" indent="0">
              <a:buNone/>
            </a:pPr>
            <a:r>
              <a:rPr lang="en-US" sz="1350" b="1" dirty="0">
                <a:solidFill>
                  <a:srgbClr val="0B2A4A"/>
                </a:solidFill>
                <a:latin typeface="Cambria" pitchFamily="34" charset="0"/>
                <a:ea typeface="Cambria" pitchFamily="34" charset="-122"/>
                <a:cs typeface="Cambria" pitchFamily="34" charset="-120"/>
              </a:rPr>
              <a:t>Drive Insight</a:t>
            </a:r>
            <a:endParaRPr lang="en-US" sz="1350" dirty="0"/>
          </a:p>
        </p:txBody>
      </p:sp>
      <p:sp>
        <p:nvSpPr>
          <p:cNvPr id="42" name="Text 33"/>
          <p:cNvSpPr/>
          <p:nvPr/>
        </p:nvSpPr>
        <p:spPr>
          <a:xfrm>
            <a:off x="2939796" y="5510862"/>
            <a:ext cx="1600200" cy="868680"/>
          </a:xfrm>
          <a:prstGeom prst="rect">
            <a:avLst/>
          </a:prstGeom>
          <a:noFill/>
          <a:ln/>
        </p:spPr>
        <p:txBody>
          <a:bodyPr wrap="square" rtlCol="0" anchor="t"/>
          <a:lstStyle/>
          <a:p>
            <a:pPr marL="0" indent="0">
              <a:buNone/>
            </a:pPr>
            <a:r>
              <a:rPr lang="en-US" sz="1000" dirty="0">
                <a:solidFill>
                  <a:srgbClr val="5B6B7C"/>
                </a:solidFill>
                <a:latin typeface="Calibri" pitchFamily="34" charset="0"/>
                <a:ea typeface="Calibri" pitchFamily="34" charset="-122"/>
                <a:cs typeface="Calibri" pitchFamily="34" charset="-120"/>
              </a:rPr>
              <a:t>Surface business insights for smarter real-estate decisions</a:t>
            </a:r>
            <a:endParaRPr lang="en-US" sz="1000" dirty="0"/>
          </a:p>
        </p:txBody>
      </p:sp>
      <p:sp>
        <p:nvSpPr>
          <p:cNvPr id="43" name="Text 3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Objectives</a:t>
            </a:r>
            <a:endParaRPr lang="en-US" sz="900" dirty="0"/>
          </a:p>
        </p:txBody>
      </p:sp>
      <p:sp>
        <p:nvSpPr>
          <p:cNvPr id="44" name="Text 3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
        <p:nvSpPr>
          <p:cNvPr id="45" name="Text 36"/>
          <p:cNvSpPr/>
          <p:nvPr/>
        </p:nvSpPr>
        <p:spPr>
          <a:xfrm>
            <a:off x="4722876" y="6473952"/>
            <a:ext cx="2743200" cy="274320"/>
          </a:xfrm>
          <a:prstGeom prst="rect">
            <a:avLst/>
          </a:prstGeom>
          <a:noFill/>
          <a:ln/>
        </p:spPr>
        <p:txBody>
          <a:bodyPr wrap="square" rtlCol="0" anchor="ctr"/>
          <a:lstStyle/>
          <a:p>
            <a:pPr marL="0" indent="0" algn="ctr">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TOOLS &amp; FRAMEWORKS</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818388" y="1600200"/>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5" name="Shape 3"/>
          <p:cNvSpPr/>
          <p:nvPr/>
        </p:nvSpPr>
        <p:spPr>
          <a:xfrm>
            <a:off x="1604772" y="1801368"/>
            <a:ext cx="914400" cy="914400"/>
          </a:xfrm>
          <a:prstGeom prst="ellipse">
            <a:avLst/>
          </a:prstGeom>
          <a:solidFill>
            <a:srgbClr val="F4F8FB"/>
          </a:solidFill>
          <a:ln w="12700">
            <a:solidFill>
              <a:srgbClr val="D8E4EE"/>
            </a:solidFill>
            <a:prstDash val="solid"/>
          </a:ln>
        </p:spPr>
      </p:sp>
      <p:pic>
        <p:nvPicPr>
          <p:cNvPr id="6" name="Image 0" descr="/home/claude/brickview/icons/python.png"/>
          <p:cNvPicPr>
            <a:picLocks noChangeAspect="1"/>
          </p:cNvPicPr>
          <p:nvPr/>
        </p:nvPicPr>
        <p:blipFill>
          <a:blip r:embed="rId3"/>
          <a:stretch>
            <a:fillRect/>
          </a:stretch>
        </p:blipFill>
        <p:spPr>
          <a:xfrm>
            <a:off x="1751076" y="1947672"/>
            <a:ext cx="621792" cy="621792"/>
          </a:xfrm>
          <a:prstGeom prst="rect">
            <a:avLst/>
          </a:prstGeom>
        </p:spPr>
      </p:pic>
      <p:sp>
        <p:nvSpPr>
          <p:cNvPr id="7" name="Text 4"/>
          <p:cNvSpPr/>
          <p:nvPr/>
        </p:nvSpPr>
        <p:spPr>
          <a:xfrm>
            <a:off x="909828" y="2770632"/>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Python</a:t>
            </a:r>
            <a:endParaRPr lang="en-US" sz="1500" dirty="0"/>
          </a:p>
        </p:txBody>
      </p:sp>
      <p:sp>
        <p:nvSpPr>
          <p:cNvPr id="8" name="Text 5"/>
          <p:cNvSpPr/>
          <p:nvPr/>
        </p:nvSpPr>
        <p:spPr>
          <a:xfrm>
            <a:off x="909828" y="3099816"/>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Core Language</a:t>
            </a:r>
            <a:endParaRPr lang="en-US" sz="1050" dirty="0"/>
          </a:p>
        </p:txBody>
      </p:sp>
      <p:sp>
        <p:nvSpPr>
          <p:cNvPr id="9" name="Shape 6"/>
          <p:cNvSpPr/>
          <p:nvPr/>
        </p:nvSpPr>
        <p:spPr>
          <a:xfrm>
            <a:off x="3506724" y="1600200"/>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0" name="Shape 7"/>
          <p:cNvSpPr/>
          <p:nvPr/>
        </p:nvSpPr>
        <p:spPr>
          <a:xfrm>
            <a:off x="4293108" y="1801368"/>
            <a:ext cx="914400" cy="914400"/>
          </a:xfrm>
          <a:prstGeom prst="ellipse">
            <a:avLst/>
          </a:prstGeom>
          <a:solidFill>
            <a:srgbClr val="F4F8FB"/>
          </a:solidFill>
          <a:ln w="12700">
            <a:solidFill>
              <a:srgbClr val="D8E4EE"/>
            </a:solidFill>
            <a:prstDash val="solid"/>
          </a:ln>
        </p:spPr>
      </p:sp>
      <p:pic>
        <p:nvPicPr>
          <p:cNvPr id="11" name="Image 1" descr="/home/claude/brickview/icons/streamlit.png"/>
          <p:cNvPicPr>
            <a:picLocks noChangeAspect="1"/>
          </p:cNvPicPr>
          <p:nvPr/>
        </p:nvPicPr>
        <p:blipFill>
          <a:blip r:embed="rId4"/>
          <a:stretch>
            <a:fillRect/>
          </a:stretch>
        </p:blipFill>
        <p:spPr>
          <a:xfrm>
            <a:off x="4439412" y="1947672"/>
            <a:ext cx="621792" cy="621792"/>
          </a:xfrm>
          <a:prstGeom prst="rect">
            <a:avLst/>
          </a:prstGeom>
        </p:spPr>
      </p:pic>
      <p:sp>
        <p:nvSpPr>
          <p:cNvPr id="12" name="Text 8"/>
          <p:cNvSpPr/>
          <p:nvPr/>
        </p:nvSpPr>
        <p:spPr>
          <a:xfrm>
            <a:off x="3598164" y="2770632"/>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Streamlit</a:t>
            </a:r>
            <a:endParaRPr lang="en-US" sz="1500" dirty="0"/>
          </a:p>
        </p:txBody>
      </p:sp>
      <p:sp>
        <p:nvSpPr>
          <p:cNvPr id="13" name="Text 9"/>
          <p:cNvSpPr/>
          <p:nvPr/>
        </p:nvSpPr>
        <p:spPr>
          <a:xfrm>
            <a:off x="3598164" y="3099816"/>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Web Dashboard</a:t>
            </a:r>
            <a:endParaRPr lang="en-US" sz="1050" dirty="0"/>
          </a:p>
        </p:txBody>
      </p:sp>
      <p:sp>
        <p:nvSpPr>
          <p:cNvPr id="14" name="Shape 10"/>
          <p:cNvSpPr/>
          <p:nvPr/>
        </p:nvSpPr>
        <p:spPr>
          <a:xfrm>
            <a:off x="6195060" y="1600200"/>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5" name="Shape 11"/>
          <p:cNvSpPr/>
          <p:nvPr/>
        </p:nvSpPr>
        <p:spPr>
          <a:xfrm>
            <a:off x="6981444" y="1801368"/>
            <a:ext cx="914400" cy="914400"/>
          </a:xfrm>
          <a:prstGeom prst="ellipse">
            <a:avLst/>
          </a:prstGeom>
          <a:solidFill>
            <a:srgbClr val="F4F8FB"/>
          </a:solidFill>
          <a:ln w="12700">
            <a:solidFill>
              <a:srgbClr val="D8E4EE"/>
            </a:solidFill>
            <a:prstDash val="solid"/>
          </a:ln>
        </p:spPr>
      </p:sp>
      <p:pic>
        <p:nvPicPr>
          <p:cNvPr id="16" name="Image 2" descr="/home/claude/brickview/icons/mysql.png"/>
          <p:cNvPicPr>
            <a:picLocks noChangeAspect="1"/>
          </p:cNvPicPr>
          <p:nvPr/>
        </p:nvPicPr>
        <p:blipFill>
          <a:blip r:embed="rId5"/>
          <a:stretch>
            <a:fillRect/>
          </a:stretch>
        </p:blipFill>
        <p:spPr>
          <a:xfrm>
            <a:off x="7127748" y="1947672"/>
            <a:ext cx="621792" cy="621792"/>
          </a:xfrm>
          <a:prstGeom prst="rect">
            <a:avLst/>
          </a:prstGeom>
        </p:spPr>
      </p:pic>
      <p:sp>
        <p:nvSpPr>
          <p:cNvPr id="17" name="Text 12"/>
          <p:cNvSpPr/>
          <p:nvPr/>
        </p:nvSpPr>
        <p:spPr>
          <a:xfrm>
            <a:off x="6286500" y="2770632"/>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MySQL</a:t>
            </a:r>
            <a:endParaRPr lang="en-US" sz="1500" dirty="0"/>
          </a:p>
        </p:txBody>
      </p:sp>
      <p:sp>
        <p:nvSpPr>
          <p:cNvPr id="18" name="Text 13"/>
          <p:cNvSpPr/>
          <p:nvPr/>
        </p:nvSpPr>
        <p:spPr>
          <a:xfrm>
            <a:off x="6286500" y="3099816"/>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Database</a:t>
            </a:r>
            <a:endParaRPr lang="en-US" sz="1050" dirty="0"/>
          </a:p>
        </p:txBody>
      </p:sp>
      <p:sp>
        <p:nvSpPr>
          <p:cNvPr id="19" name="Shape 14"/>
          <p:cNvSpPr/>
          <p:nvPr/>
        </p:nvSpPr>
        <p:spPr>
          <a:xfrm>
            <a:off x="8883396" y="1600200"/>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0" name="Shape 15"/>
          <p:cNvSpPr/>
          <p:nvPr/>
        </p:nvSpPr>
        <p:spPr>
          <a:xfrm>
            <a:off x="9669780" y="1801368"/>
            <a:ext cx="914400" cy="914400"/>
          </a:xfrm>
          <a:prstGeom prst="ellipse">
            <a:avLst/>
          </a:prstGeom>
          <a:solidFill>
            <a:srgbClr val="F4F8FB"/>
          </a:solidFill>
          <a:ln w="12700">
            <a:solidFill>
              <a:srgbClr val="D8E4EE"/>
            </a:solidFill>
            <a:prstDash val="solid"/>
          </a:ln>
        </p:spPr>
      </p:sp>
      <p:pic>
        <p:nvPicPr>
          <p:cNvPr id="21" name="Image 3" descr="/home/claude/brickview/icons/pandas.png"/>
          <p:cNvPicPr>
            <a:picLocks noChangeAspect="1"/>
          </p:cNvPicPr>
          <p:nvPr/>
        </p:nvPicPr>
        <p:blipFill>
          <a:blip r:embed="rId6"/>
          <a:stretch>
            <a:fillRect/>
          </a:stretch>
        </p:blipFill>
        <p:spPr>
          <a:xfrm>
            <a:off x="9816084" y="1947672"/>
            <a:ext cx="621792" cy="621792"/>
          </a:xfrm>
          <a:prstGeom prst="rect">
            <a:avLst/>
          </a:prstGeom>
        </p:spPr>
      </p:pic>
      <p:sp>
        <p:nvSpPr>
          <p:cNvPr id="22" name="Text 16"/>
          <p:cNvSpPr/>
          <p:nvPr/>
        </p:nvSpPr>
        <p:spPr>
          <a:xfrm>
            <a:off x="8974836" y="2770632"/>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Pandas</a:t>
            </a:r>
            <a:endParaRPr lang="en-US" sz="1500" dirty="0"/>
          </a:p>
        </p:txBody>
      </p:sp>
      <p:sp>
        <p:nvSpPr>
          <p:cNvPr id="23" name="Text 17"/>
          <p:cNvSpPr/>
          <p:nvPr/>
        </p:nvSpPr>
        <p:spPr>
          <a:xfrm>
            <a:off x="8974836" y="3099816"/>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Data Wrangling</a:t>
            </a:r>
            <a:endParaRPr lang="en-US" sz="1050" dirty="0"/>
          </a:p>
        </p:txBody>
      </p:sp>
      <p:sp>
        <p:nvSpPr>
          <p:cNvPr id="24" name="Shape 18"/>
          <p:cNvSpPr/>
          <p:nvPr/>
        </p:nvSpPr>
        <p:spPr>
          <a:xfrm>
            <a:off x="818388" y="3730752"/>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5" name="Shape 19"/>
          <p:cNvSpPr/>
          <p:nvPr/>
        </p:nvSpPr>
        <p:spPr>
          <a:xfrm>
            <a:off x="1604772" y="3931920"/>
            <a:ext cx="914400" cy="914400"/>
          </a:xfrm>
          <a:prstGeom prst="ellipse">
            <a:avLst/>
          </a:prstGeom>
          <a:solidFill>
            <a:srgbClr val="F4F8FB"/>
          </a:solidFill>
          <a:ln w="12700">
            <a:solidFill>
              <a:srgbClr val="D8E4EE"/>
            </a:solidFill>
            <a:prstDash val="solid"/>
          </a:ln>
        </p:spPr>
      </p:sp>
      <p:pic>
        <p:nvPicPr>
          <p:cNvPr id="26" name="Image 4" descr="/home/claude/brickview/icons/plotly.png"/>
          <p:cNvPicPr>
            <a:picLocks noChangeAspect="1"/>
          </p:cNvPicPr>
          <p:nvPr/>
        </p:nvPicPr>
        <p:blipFill>
          <a:blip r:embed="rId7"/>
          <a:stretch>
            <a:fillRect/>
          </a:stretch>
        </p:blipFill>
        <p:spPr>
          <a:xfrm>
            <a:off x="1751076" y="4078224"/>
            <a:ext cx="621792" cy="621792"/>
          </a:xfrm>
          <a:prstGeom prst="rect">
            <a:avLst/>
          </a:prstGeom>
        </p:spPr>
      </p:pic>
      <p:sp>
        <p:nvSpPr>
          <p:cNvPr id="27" name="Text 20"/>
          <p:cNvSpPr/>
          <p:nvPr/>
        </p:nvSpPr>
        <p:spPr>
          <a:xfrm>
            <a:off x="909828" y="4901184"/>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Plotly</a:t>
            </a:r>
            <a:endParaRPr lang="en-US" sz="1500" dirty="0"/>
          </a:p>
        </p:txBody>
      </p:sp>
      <p:sp>
        <p:nvSpPr>
          <p:cNvPr id="28" name="Text 21"/>
          <p:cNvSpPr/>
          <p:nvPr/>
        </p:nvSpPr>
        <p:spPr>
          <a:xfrm>
            <a:off x="909828" y="5230368"/>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Visualization</a:t>
            </a:r>
            <a:endParaRPr lang="en-US" sz="1050" dirty="0"/>
          </a:p>
        </p:txBody>
      </p:sp>
      <p:sp>
        <p:nvSpPr>
          <p:cNvPr id="29" name="Shape 22"/>
          <p:cNvSpPr/>
          <p:nvPr/>
        </p:nvSpPr>
        <p:spPr>
          <a:xfrm>
            <a:off x="3506724" y="3730752"/>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0" name="Shape 23"/>
          <p:cNvSpPr/>
          <p:nvPr/>
        </p:nvSpPr>
        <p:spPr>
          <a:xfrm>
            <a:off x="4293108" y="3931920"/>
            <a:ext cx="914400" cy="914400"/>
          </a:xfrm>
          <a:prstGeom prst="ellipse">
            <a:avLst/>
          </a:prstGeom>
          <a:solidFill>
            <a:srgbClr val="F4F8FB"/>
          </a:solidFill>
          <a:ln w="12700">
            <a:solidFill>
              <a:srgbClr val="D8E4EE"/>
            </a:solidFill>
            <a:prstDash val="solid"/>
          </a:ln>
        </p:spPr>
      </p:sp>
      <p:pic>
        <p:nvPicPr>
          <p:cNvPr id="31" name="Image 5" descr="/home/claude/brickview/icons/git.png"/>
          <p:cNvPicPr>
            <a:picLocks noChangeAspect="1"/>
          </p:cNvPicPr>
          <p:nvPr/>
        </p:nvPicPr>
        <p:blipFill>
          <a:blip r:embed="rId8"/>
          <a:stretch>
            <a:fillRect/>
          </a:stretch>
        </p:blipFill>
        <p:spPr>
          <a:xfrm>
            <a:off x="4439412" y="4078224"/>
            <a:ext cx="621792" cy="621792"/>
          </a:xfrm>
          <a:prstGeom prst="rect">
            <a:avLst/>
          </a:prstGeom>
        </p:spPr>
      </p:pic>
      <p:sp>
        <p:nvSpPr>
          <p:cNvPr id="32" name="Text 24"/>
          <p:cNvSpPr/>
          <p:nvPr/>
        </p:nvSpPr>
        <p:spPr>
          <a:xfrm>
            <a:off x="3598164" y="4901184"/>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Git</a:t>
            </a:r>
            <a:endParaRPr lang="en-US" sz="1500" dirty="0"/>
          </a:p>
        </p:txBody>
      </p:sp>
      <p:sp>
        <p:nvSpPr>
          <p:cNvPr id="33" name="Text 25"/>
          <p:cNvSpPr/>
          <p:nvPr/>
        </p:nvSpPr>
        <p:spPr>
          <a:xfrm>
            <a:off x="3598164" y="5230368"/>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Version Control</a:t>
            </a:r>
            <a:endParaRPr lang="en-US" sz="1050" dirty="0"/>
          </a:p>
        </p:txBody>
      </p:sp>
      <p:sp>
        <p:nvSpPr>
          <p:cNvPr id="34" name="Shape 26"/>
          <p:cNvSpPr/>
          <p:nvPr/>
        </p:nvSpPr>
        <p:spPr>
          <a:xfrm>
            <a:off x="6195060" y="3730752"/>
            <a:ext cx="2487168" cy="1874520"/>
          </a:xfrm>
          <a:prstGeom prst="roundRect">
            <a:avLst>
              <a:gd name="adj" fmla="val 4390"/>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5" name="Shape 27"/>
          <p:cNvSpPr/>
          <p:nvPr/>
        </p:nvSpPr>
        <p:spPr>
          <a:xfrm>
            <a:off x="6981444" y="3931920"/>
            <a:ext cx="914400" cy="914400"/>
          </a:xfrm>
          <a:prstGeom prst="ellipse">
            <a:avLst/>
          </a:prstGeom>
          <a:solidFill>
            <a:srgbClr val="F4F8FB"/>
          </a:solidFill>
          <a:ln w="12700">
            <a:solidFill>
              <a:srgbClr val="D8E4EE"/>
            </a:solidFill>
            <a:prstDash val="solid"/>
          </a:ln>
        </p:spPr>
      </p:sp>
      <p:pic>
        <p:nvPicPr>
          <p:cNvPr id="36" name="Image 6" descr="/home/claude/brickview/icons/github.png"/>
          <p:cNvPicPr>
            <a:picLocks noChangeAspect="1"/>
          </p:cNvPicPr>
          <p:nvPr/>
        </p:nvPicPr>
        <p:blipFill>
          <a:blip r:embed="rId9"/>
          <a:stretch>
            <a:fillRect/>
          </a:stretch>
        </p:blipFill>
        <p:spPr>
          <a:xfrm>
            <a:off x="7127748" y="4078224"/>
            <a:ext cx="621792" cy="621792"/>
          </a:xfrm>
          <a:prstGeom prst="rect">
            <a:avLst/>
          </a:prstGeom>
        </p:spPr>
      </p:pic>
      <p:sp>
        <p:nvSpPr>
          <p:cNvPr id="37" name="Text 28"/>
          <p:cNvSpPr/>
          <p:nvPr/>
        </p:nvSpPr>
        <p:spPr>
          <a:xfrm>
            <a:off x="6286500" y="4901184"/>
            <a:ext cx="2304288" cy="347472"/>
          </a:xfrm>
          <a:prstGeom prst="rect">
            <a:avLst/>
          </a:prstGeom>
          <a:noFill/>
          <a:ln/>
        </p:spPr>
        <p:txBody>
          <a:bodyPr wrap="square" rtlCol="0" anchor="ctr"/>
          <a:lstStyle/>
          <a:p>
            <a:pPr marL="0" indent="0" algn="ctr">
              <a:buNone/>
            </a:pPr>
            <a:r>
              <a:rPr lang="en-US" sz="1500" b="1" dirty="0">
                <a:solidFill>
                  <a:srgbClr val="0B2A4A"/>
                </a:solidFill>
                <a:latin typeface="Cambria" pitchFamily="34" charset="0"/>
                <a:ea typeface="Cambria" pitchFamily="34" charset="-122"/>
                <a:cs typeface="Cambria" pitchFamily="34" charset="-120"/>
              </a:rPr>
              <a:t>GitHub</a:t>
            </a:r>
            <a:endParaRPr lang="en-US" sz="1500" dirty="0"/>
          </a:p>
        </p:txBody>
      </p:sp>
      <p:sp>
        <p:nvSpPr>
          <p:cNvPr id="38" name="Text 29"/>
          <p:cNvSpPr/>
          <p:nvPr/>
        </p:nvSpPr>
        <p:spPr>
          <a:xfrm>
            <a:off x="6286500" y="5230368"/>
            <a:ext cx="2304288" cy="274320"/>
          </a:xfrm>
          <a:prstGeom prst="rect">
            <a:avLst/>
          </a:prstGeom>
          <a:noFill/>
          <a:ln/>
        </p:spPr>
        <p:txBody>
          <a:bodyPr wrap="square" rtlCol="0" anchor="ctr"/>
          <a:lstStyle/>
          <a:p>
            <a:pPr marL="0" indent="0" algn="ctr">
              <a:buNone/>
            </a:pPr>
            <a:r>
              <a:rPr lang="en-US" sz="1050" dirty="0">
                <a:solidFill>
                  <a:srgbClr val="5B6B7C"/>
                </a:solidFill>
                <a:latin typeface="Calibri" pitchFamily="34" charset="0"/>
                <a:ea typeface="Calibri" pitchFamily="34" charset="-122"/>
                <a:cs typeface="Calibri" pitchFamily="34" charset="-120"/>
              </a:rPr>
              <a:t>Code Hosting</a:t>
            </a:r>
            <a:endParaRPr lang="en-US" sz="1050" dirty="0"/>
          </a:p>
        </p:txBody>
      </p:sp>
      <p:sp>
        <p:nvSpPr>
          <p:cNvPr id="39" name="Shape 30"/>
          <p:cNvSpPr/>
          <p:nvPr/>
        </p:nvSpPr>
        <p:spPr>
          <a:xfrm>
            <a:off x="8883396" y="3730752"/>
            <a:ext cx="2487168" cy="1874520"/>
          </a:xfrm>
          <a:prstGeom prst="roundRect">
            <a:avLst>
              <a:gd name="adj" fmla="val 4390"/>
            </a:avLst>
          </a:prstGeom>
          <a:solidFill>
            <a:srgbClr val="0E5C8A"/>
          </a:solidFill>
          <a:ln w="12700">
            <a:solidFill>
              <a:srgbClr val="0E5C8A"/>
            </a:solidFill>
            <a:prstDash val="solid"/>
          </a:ln>
          <a:effectLst>
            <a:outerShdw blurRad="101600" dist="38100" dir="5400000" algn="bl" rotWithShape="0">
              <a:srgbClr val="1B2A3D">
                <a:alpha val="12000"/>
              </a:srgbClr>
            </a:outerShdw>
          </a:effectLst>
        </p:spPr>
      </p:sp>
      <p:pic>
        <p:nvPicPr>
          <p:cNvPr id="40" name="Image 7" descr="/home/claude/brickview/icons/layers_w.png"/>
          <p:cNvPicPr>
            <a:picLocks noChangeAspect="1"/>
          </p:cNvPicPr>
          <p:nvPr/>
        </p:nvPicPr>
        <p:blipFill>
          <a:blip r:embed="rId10"/>
          <a:stretch>
            <a:fillRect/>
          </a:stretch>
        </p:blipFill>
        <p:spPr>
          <a:xfrm>
            <a:off x="9870948" y="4005072"/>
            <a:ext cx="512064" cy="512064"/>
          </a:xfrm>
          <a:prstGeom prst="rect">
            <a:avLst/>
          </a:prstGeom>
        </p:spPr>
      </p:pic>
      <p:sp>
        <p:nvSpPr>
          <p:cNvPr id="41" name="Text 31"/>
          <p:cNvSpPr/>
          <p:nvPr/>
        </p:nvSpPr>
        <p:spPr>
          <a:xfrm>
            <a:off x="8974836" y="4645152"/>
            <a:ext cx="2304288" cy="822960"/>
          </a:xfrm>
          <a:prstGeom prst="rect">
            <a:avLst/>
          </a:prstGeom>
          <a:noFill/>
          <a:ln/>
        </p:spPr>
        <p:txBody>
          <a:bodyPr wrap="square" rtlCol="0" anchor="t"/>
          <a:lstStyle/>
          <a:p>
            <a:pPr marL="0" indent="0" algn="ctr">
              <a:buNone/>
            </a:pPr>
            <a:r>
              <a:rPr lang="en-US" sz="1300" b="1" dirty="0">
                <a:solidFill>
                  <a:srgbClr val="FFFFFF"/>
                </a:solidFill>
                <a:latin typeface="Cambria" pitchFamily="34" charset="0"/>
                <a:ea typeface="Cambria" pitchFamily="34" charset="-122"/>
                <a:cs typeface="Cambria" pitchFamily="34" charset="-120"/>
              </a:rPr>
              <a:t>Full-Stack</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Data Workflow</a:t>
            </a:r>
            <a:endParaRPr lang="en-US" sz="1300" dirty="0"/>
          </a:p>
        </p:txBody>
      </p:sp>
      <p:sp>
        <p:nvSpPr>
          <p:cNvPr id="42" name="Text 3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Technology Stack</a:t>
            </a:r>
            <a:endParaRPr lang="en-US" sz="900" dirty="0"/>
          </a:p>
        </p:txBody>
      </p:sp>
      <p:sp>
        <p:nvSpPr>
          <p:cNvPr id="43" name="Text 3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
        <p:nvSpPr>
          <p:cNvPr id="44" name="Text 34"/>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HOW IT WORKS</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2720340" y="1508760"/>
            <a:ext cx="1481328" cy="1417320"/>
          </a:xfrm>
          <a:prstGeom prst="roundRect">
            <a:avLst>
              <a:gd name="adj" fmla="val 580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5" name="Shape 3"/>
          <p:cNvSpPr/>
          <p:nvPr/>
        </p:nvSpPr>
        <p:spPr>
          <a:xfrm>
            <a:off x="3150108" y="1655064"/>
            <a:ext cx="621792" cy="621792"/>
          </a:xfrm>
          <a:prstGeom prst="ellipse">
            <a:avLst/>
          </a:prstGeom>
          <a:solidFill>
            <a:srgbClr val="0E5C8A"/>
          </a:solidFill>
          <a:ln/>
        </p:spPr>
      </p:sp>
      <p:pic>
        <p:nvPicPr>
          <p:cNvPr id="6" name="Image 0" descr="/home/claude/brickview/icons/layers_w.png"/>
          <p:cNvPicPr>
            <a:picLocks noChangeAspect="1"/>
          </p:cNvPicPr>
          <p:nvPr/>
        </p:nvPicPr>
        <p:blipFill>
          <a:blip r:embed="rId3"/>
          <a:stretch>
            <a:fillRect/>
          </a:stretch>
        </p:blipFill>
        <p:spPr>
          <a:xfrm>
            <a:off x="3230941" y="1735897"/>
            <a:ext cx="460126" cy="460126"/>
          </a:xfrm>
          <a:prstGeom prst="rect">
            <a:avLst/>
          </a:prstGeom>
        </p:spPr>
      </p:pic>
      <p:sp>
        <p:nvSpPr>
          <p:cNvPr id="7" name="Text 4"/>
          <p:cNvSpPr/>
          <p:nvPr/>
        </p:nvSpPr>
        <p:spPr>
          <a:xfrm>
            <a:off x="2766060" y="2331720"/>
            <a:ext cx="1389888" cy="320040"/>
          </a:xfrm>
          <a:prstGeom prst="rect">
            <a:avLst/>
          </a:prstGeom>
          <a:noFill/>
          <a:ln/>
        </p:spPr>
        <p:txBody>
          <a:bodyPr wrap="square" rtlCol="0" anchor="ctr"/>
          <a:lstStyle/>
          <a:p>
            <a:pPr marL="0" indent="0" algn="ctr">
              <a:buNone/>
            </a:pPr>
            <a:r>
              <a:rPr lang="en-US" sz="1150" b="1" dirty="0">
                <a:solidFill>
                  <a:srgbClr val="0B2A4A"/>
                </a:solidFill>
                <a:latin typeface="Cambria" pitchFamily="34" charset="0"/>
                <a:ea typeface="Cambria" pitchFamily="34" charset="-122"/>
                <a:cs typeface="Cambria" pitchFamily="34" charset="-120"/>
              </a:rPr>
              <a:t>Dataset</a:t>
            </a:r>
            <a:endParaRPr lang="en-US" sz="1150" dirty="0"/>
          </a:p>
        </p:txBody>
      </p:sp>
      <p:sp>
        <p:nvSpPr>
          <p:cNvPr id="8" name="Text 5"/>
          <p:cNvSpPr/>
          <p:nvPr/>
        </p:nvSpPr>
        <p:spPr>
          <a:xfrm>
            <a:off x="2766060" y="2496312"/>
            <a:ext cx="1389888" cy="502920"/>
          </a:xfrm>
          <a:prstGeom prst="rect">
            <a:avLst/>
          </a:prstGeom>
          <a:noFill/>
          <a:ln/>
        </p:spPr>
        <p:txBody>
          <a:bodyPr wrap="square" rtlCol="0" anchor="ctr"/>
          <a:lstStyle/>
          <a:p>
            <a:pPr marL="0" indent="0" algn="ctr">
              <a:buNone/>
            </a:pPr>
            <a:r>
              <a:rPr lang="en-US" sz="850" dirty="0">
                <a:solidFill>
                  <a:srgbClr val="5B6B7C"/>
                </a:solidFill>
                <a:latin typeface="Calibri" pitchFamily="34" charset="0"/>
                <a:ea typeface="Calibri" pitchFamily="34" charset="-122"/>
                <a:cs typeface="Calibri" pitchFamily="34" charset="-120"/>
              </a:rPr>
              <a:t>Raw real-estate records</a:t>
            </a:r>
            <a:endParaRPr lang="en-US" sz="850" dirty="0"/>
          </a:p>
        </p:txBody>
      </p:sp>
      <p:pic>
        <p:nvPicPr>
          <p:cNvPr id="9" name="Image 1" descr="/home/claude/brickview/icons/arrowRight_w.png"/>
          <p:cNvPicPr>
            <a:picLocks noChangeAspect="1"/>
          </p:cNvPicPr>
          <p:nvPr/>
        </p:nvPicPr>
        <p:blipFill>
          <a:blip r:embed="rId4"/>
          <a:stretch>
            <a:fillRect/>
          </a:stretch>
        </p:blipFill>
        <p:spPr>
          <a:xfrm>
            <a:off x="4219956" y="1828800"/>
            <a:ext cx="237744" cy="237744"/>
          </a:xfrm>
          <a:prstGeom prst="rect">
            <a:avLst/>
          </a:prstGeom>
        </p:spPr>
      </p:pic>
      <p:sp>
        <p:nvSpPr>
          <p:cNvPr id="10" name="Shape 6"/>
          <p:cNvSpPr/>
          <p:nvPr/>
        </p:nvSpPr>
        <p:spPr>
          <a:xfrm>
            <a:off x="4475988" y="1508760"/>
            <a:ext cx="1481328" cy="1417320"/>
          </a:xfrm>
          <a:prstGeom prst="roundRect">
            <a:avLst>
              <a:gd name="adj" fmla="val 580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1" name="Shape 7"/>
          <p:cNvSpPr/>
          <p:nvPr/>
        </p:nvSpPr>
        <p:spPr>
          <a:xfrm>
            <a:off x="4905756" y="1655064"/>
            <a:ext cx="621792" cy="621792"/>
          </a:xfrm>
          <a:prstGeom prst="ellipse">
            <a:avLst/>
          </a:prstGeom>
          <a:solidFill>
            <a:srgbClr val="0E5C8A"/>
          </a:solidFill>
          <a:ln/>
        </p:spPr>
      </p:sp>
      <p:pic>
        <p:nvPicPr>
          <p:cNvPr id="12" name="Image 2" descr="/home/claude/brickview/icons/refreshCw_w.png"/>
          <p:cNvPicPr>
            <a:picLocks noChangeAspect="1"/>
          </p:cNvPicPr>
          <p:nvPr/>
        </p:nvPicPr>
        <p:blipFill>
          <a:blip r:embed="rId5"/>
          <a:stretch>
            <a:fillRect/>
          </a:stretch>
        </p:blipFill>
        <p:spPr>
          <a:xfrm>
            <a:off x="4986589" y="1735897"/>
            <a:ext cx="460126" cy="460126"/>
          </a:xfrm>
          <a:prstGeom prst="rect">
            <a:avLst/>
          </a:prstGeom>
        </p:spPr>
      </p:pic>
      <p:sp>
        <p:nvSpPr>
          <p:cNvPr id="13" name="Text 8"/>
          <p:cNvSpPr/>
          <p:nvPr/>
        </p:nvSpPr>
        <p:spPr>
          <a:xfrm>
            <a:off x="4521708" y="2331720"/>
            <a:ext cx="1389888" cy="320040"/>
          </a:xfrm>
          <a:prstGeom prst="rect">
            <a:avLst/>
          </a:prstGeom>
          <a:noFill/>
          <a:ln/>
        </p:spPr>
        <p:txBody>
          <a:bodyPr wrap="square" rtlCol="0" anchor="ctr"/>
          <a:lstStyle/>
          <a:p>
            <a:pPr marL="0" indent="0" algn="ctr">
              <a:buNone/>
            </a:pPr>
            <a:r>
              <a:rPr lang="en-US" sz="1150" b="1" dirty="0">
                <a:solidFill>
                  <a:srgbClr val="0B2A4A"/>
                </a:solidFill>
                <a:latin typeface="Cambria" pitchFamily="34" charset="0"/>
                <a:ea typeface="Cambria" pitchFamily="34" charset="-122"/>
                <a:cs typeface="Cambria" pitchFamily="34" charset="-120"/>
              </a:rPr>
              <a:t>Data Cleaning</a:t>
            </a:r>
            <a:endParaRPr lang="en-US" sz="1150" dirty="0"/>
          </a:p>
        </p:txBody>
      </p:sp>
      <p:sp>
        <p:nvSpPr>
          <p:cNvPr id="14" name="Text 9"/>
          <p:cNvSpPr/>
          <p:nvPr/>
        </p:nvSpPr>
        <p:spPr>
          <a:xfrm>
            <a:off x="4521708" y="2496312"/>
            <a:ext cx="1389888" cy="502920"/>
          </a:xfrm>
          <a:prstGeom prst="rect">
            <a:avLst/>
          </a:prstGeom>
          <a:noFill/>
          <a:ln/>
        </p:spPr>
        <p:txBody>
          <a:bodyPr wrap="square" rtlCol="0" anchor="ctr"/>
          <a:lstStyle/>
          <a:p>
            <a:pPr marL="0" indent="0" algn="ctr">
              <a:buNone/>
            </a:pPr>
            <a:r>
              <a:rPr lang="en-US" sz="850" dirty="0">
                <a:solidFill>
                  <a:srgbClr val="5B6B7C"/>
                </a:solidFill>
                <a:latin typeface="Calibri" pitchFamily="34" charset="0"/>
                <a:ea typeface="Calibri" pitchFamily="34" charset="-122"/>
                <a:cs typeface="Calibri" pitchFamily="34" charset="-120"/>
              </a:rPr>
              <a:t>Python &amp; Pandas processing</a:t>
            </a:r>
            <a:endParaRPr lang="en-US" sz="850" dirty="0"/>
          </a:p>
        </p:txBody>
      </p:sp>
      <p:pic>
        <p:nvPicPr>
          <p:cNvPr id="15" name="Image 3" descr="/home/claude/brickview/icons/arrowRight_w.png"/>
          <p:cNvPicPr>
            <a:picLocks noChangeAspect="1"/>
          </p:cNvPicPr>
          <p:nvPr/>
        </p:nvPicPr>
        <p:blipFill>
          <a:blip r:embed="rId4"/>
          <a:stretch>
            <a:fillRect/>
          </a:stretch>
        </p:blipFill>
        <p:spPr>
          <a:xfrm>
            <a:off x="5975604" y="1828800"/>
            <a:ext cx="237744" cy="237744"/>
          </a:xfrm>
          <a:prstGeom prst="rect">
            <a:avLst/>
          </a:prstGeom>
        </p:spPr>
      </p:pic>
      <p:sp>
        <p:nvSpPr>
          <p:cNvPr id="16" name="Shape 10"/>
          <p:cNvSpPr/>
          <p:nvPr/>
        </p:nvSpPr>
        <p:spPr>
          <a:xfrm>
            <a:off x="6231636" y="1508760"/>
            <a:ext cx="1481328" cy="1417320"/>
          </a:xfrm>
          <a:prstGeom prst="roundRect">
            <a:avLst>
              <a:gd name="adj" fmla="val 580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7" name="Shape 11"/>
          <p:cNvSpPr/>
          <p:nvPr/>
        </p:nvSpPr>
        <p:spPr>
          <a:xfrm>
            <a:off x="6661404" y="1655064"/>
            <a:ext cx="621792" cy="621792"/>
          </a:xfrm>
          <a:prstGeom prst="ellipse">
            <a:avLst/>
          </a:prstGeom>
          <a:solidFill>
            <a:srgbClr val="0E5C8A"/>
          </a:solidFill>
          <a:ln/>
        </p:spPr>
      </p:sp>
      <p:pic>
        <p:nvPicPr>
          <p:cNvPr id="18" name="Image 4" descr="/home/claude/brickview/icons/database_w.png"/>
          <p:cNvPicPr>
            <a:picLocks noChangeAspect="1"/>
          </p:cNvPicPr>
          <p:nvPr/>
        </p:nvPicPr>
        <p:blipFill>
          <a:blip r:embed="rId6"/>
          <a:stretch>
            <a:fillRect/>
          </a:stretch>
        </p:blipFill>
        <p:spPr>
          <a:xfrm>
            <a:off x="6742237" y="1735897"/>
            <a:ext cx="460126" cy="460126"/>
          </a:xfrm>
          <a:prstGeom prst="rect">
            <a:avLst/>
          </a:prstGeom>
        </p:spPr>
      </p:pic>
      <p:sp>
        <p:nvSpPr>
          <p:cNvPr id="19" name="Text 12"/>
          <p:cNvSpPr/>
          <p:nvPr/>
        </p:nvSpPr>
        <p:spPr>
          <a:xfrm>
            <a:off x="6277356" y="2331720"/>
            <a:ext cx="1389888" cy="320040"/>
          </a:xfrm>
          <a:prstGeom prst="rect">
            <a:avLst/>
          </a:prstGeom>
          <a:noFill/>
          <a:ln/>
        </p:spPr>
        <p:txBody>
          <a:bodyPr wrap="square" rtlCol="0" anchor="ctr"/>
          <a:lstStyle/>
          <a:p>
            <a:pPr marL="0" indent="0" algn="ctr">
              <a:buNone/>
            </a:pPr>
            <a:r>
              <a:rPr lang="en-US" sz="1150" b="1" dirty="0">
                <a:solidFill>
                  <a:srgbClr val="0B2A4A"/>
                </a:solidFill>
                <a:latin typeface="Cambria" pitchFamily="34" charset="0"/>
                <a:ea typeface="Cambria" pitchFamily="34" charset="-122"/>
                <a:cs typeface="Cambria" pitchFamily="34" charset="-120"/>
              </a:rPr>
              <a:t>MySQL Database</a:t>
            </a:r>
            <a:endParaRPr lang="en-US" sz="1150" dirty="0"/>
          </a:p>
        </p:txBody>
      </p:sp>
      <p:sp>
        <p:nvSpPr>
          <p:cNvPr id="20" name="Text 13"/>
          <p:cNvSpPr/>
          <p:nvPr/>
        </p:nvSpPr>
        <p:spPr>
          <a:xfrm>
            <a:off x="6277356" y="2496312"/>
            <a:ext cx="1389888" cy="502920"/>
          </a:xfrm>
          <a:prstGeom prst="rect">
            <a:avLst/>
          </a:prstGeom>
          <a:noFill/>
          <a:ln/>
        </p:spPr>
        <p:txBody>
          <a:bodyPr wrap="square" rtlCol="0" anchor="ctr"/>
          <a:lstStyle/>
          <a:p>
            <a:pPr marL="0" indent="0" algn="ctr">
              <a:buNone/>
            </a:pPr>
            <a:r>
              <a:rPr lang="en-US" sz="850" dirty="0">
                <a:solidFill>
                  <a:srgbClr val="5B6B7C"/>
                </a:solidFill>
                <a:latin typeface="Calibri" pitchFamily="34" charset="0"/>
                <a:ea typeface="Calibri" pitchFamily="34" charset="-122"/>
                <a:cs typeface="Calibri" pitchFamily="34" charset="-120"/>
              </a:rPr>
              <a:t>Structured, relational storage</a:t>
            </a:r>
            <a:endParaRPr lang="en-US" sz="850" dirty="0"/>
          </a:p>
        </p:txBody>
      </p:sp>
      <p:pic>
        <p:nvPicPr>
          <p:cNvPr id="21" name="Image 5" descr="/home/claude/brickview/icons/arrowRight_w.png"/>
          <p:cNvPicPr>
            <a:picLocks noChangeAspect="1"/>
          </p:cNvPicPr>
          <p:nvPr/>
        </p:nvPicPr>
        <p:blipFill>
          <a:blip r:embed="rId4"/>
          <a:stretch>
            <a:fillRect/>
          </a:stretch>
        </p:blipFill>
        <p:spPr>
          <a:xfrm>
            <a:off x="7731252" y="1828800"/>
            <a:ext cx="237744" cy="237744"/>
          </a:xfrm>
          <a:prstGeom prst="rect">
            <a:avLst/>
          </a:prstGeom>
        </p:spPr>
      </p:pic>
      <p:sp>
        <p:nvSpPr>
          <p:cNvPr id="22" name="Shape 14"/>
          <p:cNvSpPr/>
          <p:nvPr/>
        </p:nvSpPr>
        <p:spPr>
          <a:xfrm>
            <a:off x="7987284" y="1508760"/>
            <a:ext cx="1481328" cy="1417320"/>
          </a:xfrm>
          <a:prstGeom prst="roundRect">
            <a:avLst>
              <a:gd name="adj" fmla="val 5806"/>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3" name="Shape 15"/>
          <p:cNvSpPr/>
          <p:nvPr/>
        </p:nvSpPr>
        <p:spPr>
          <a:xfrm>
            <a:off x="8417052" y="1655064"/>
            <a:ext cx="621792" cy="621792"/>
          </a:xfrm>
          <a:prstGeom prst="ellipse">
            <a:avLst/>
          </a:prstGeom>
          <a:solidFill>
            <a:srgbClr val="0E5C8A"/>
          </a:solidFill>
          <a:ln/>
        </p:spPr>
      </p:sp>
      <p:pic>
        <p:nvPicPr>
          <p:cNvPr id="24" name="Image 6" descr="/home/claude/brickview/icons/cpu_w.png"/>
          <p:cNvPicPr>
            <a:picLocks noChangeAspect="1"/>
          </p:cNvPicPr>
          <p:nvPr/>
        </p:nvPicPr>
        <p:blipFill>
          <a:blip r:embed="rId7"/>
          <a:stretch>
            <a:fillRect/>
          </a:stretch>
        </p:blipFill>
        <p:spPr>
          <a:xfrm>
            <a:off x="8497885" y="1735897"/>
            <a:ext cx="460126" cy="460126"/>
          </a:xfrm>
          <a:prstGeom prst="rect">
            <a:avLst/>
          </a:prstGeom>
        </p:spPr>
      </p:pic>
      <p:sp>
        <p:nvSpPr>
          <p:cNvPr id="25" name="Text 16"/>
          <p:cNvSpPr/>
          <p:nvPr/>
        </p:nvSpPr>
        <p:spPr>
          <a:xfrm>
            <a:off x="8033004" y="2331720"/>
            <a:ext cx="1389888" cy="320040"/>
          </a:xfrm>
          <a:prstGeom prst="rect">
            <a:avLst/>
          </a:prstGeom>
          <a:noFill/>
          <a:ln/>
        </p:spPr>
        <p:txBody>
          <a:bodyPr wrap="square" rtlCol="0" anchor="ctr"/>
          <a:lstStyle/>
          <a:p>
            <a:pPr marL="0" indent="0" algn="ctr">
              <a:buNone/>
            </a:pPr>
            <a:r>
              <a:rPr lang="en-US" sz="1150" b="1" dirty="0">
                <a:solidFill>
                  <a:srgbClr val="0B2A4A"/>
                </a:solidFill>
                <a:latin typeface="Cambria" pitchFamily="34" charset="0"/>
                <a:ea typeface="Cambria" pitchFamily="34" charset="-122"/>
                <a:cs typeface="Cambria" pitchFamily="34" charset="-120"/>
              </a:rPr>
              <a:t>Python Backend</a:t>
            </a:r>
            <a:endParaRPr lang="en-US" sz="1150" dirty="0"/>
          </a:p>
        </p:txBody>
      </p:sp>
      <p:sp>
        <p:nvSpPr>
          <p:cNvPr id="26" name="Text 17"/>
          <p:cNvSpPr/>
          <p:nvPr/>
        </p:nvSpPr>
        <p:spPr>
          <a:xfrm>
            <a:off x="8033004" y="2496312"/>
            <a:ext cx="1389888" cy="502920"/>
          </a:xfrm>
          <a:prstGeom prst="rect">
            <a:avLst/>
          </a:prstGeom>
          <a:noFill/>
          <a:ln/>
        </p:spPr>
        <p:txBody>
          <a:bodyPr wrap="square" rtlCol="0" anchor="ctr"/>
          <a:lstStyle/>
          <a:p>
            <a:pPr marL="0" indent="0" algn="ctr">
              <a:buNone/>
            </a:pPr>
            <a:r>
              <a:rPr lang="en-US" sz="850" dirty="0">
                <a:solidFill>
                  <a:srgbClr val="5B6B7C"/>
                </a:solidFill>
                <a:latin typeface="Calibri" pitchFamily="34" charset="0"/>
                <a:ea typeface="Calibri" pitchFamily="34" charset="-122"/>
                <a:cs typeface="Calibri" pitchFamily="34" charset="-120"/>
              </a:rPr>
              <a:t>Business logic &amp; queries</a:t>
            </a:r>
            <a:endParaRPr lang="en-US" sz="850" dirty="0"/>
          </a:p>
        </p:txBody>
      </p:sp>
      <p:sp>
        <p:nvSpPr>
          <p:cNvPr id="28" name="Shape 19"/>
          <p:cNvSpPr/>
          <p:nvPr/>
        </p:nvSpPr>
        <p:spPr>
          <a:xfrm>
            <a:off x="3598164" y="3246120"/>
            <a:ext cx="1481328" cy="1417320"/>
          </a:xfrm>
          <a:prstGeom prst="roundRect">
            <a:avLst>
              <a:gd name="adj" fmla="val 5806"/>
            </a:avLst>
          </a:prstGeom>
          <a:solidFill>
            <a:srgbClr val="0E5C8A"/>
          </a:solidFill>
          <a:ln w="12700">
            <a:solidFill>
              <a:srgbClr val="0E5C8A"/>
            </a:solidFill>
            <a:prstDash val="solid"/>
          </a:ln>
          <a:effectLst>
            <a:outerShdw blurRad="101600" dist="38100" dir="5400000" algn="bl" rotWithShape="0">
              <a:srgbClr val="1B2A3D">
                <a:alpha val="12000"/>
              </a:srgbClr>
            </a:outerShdw>
          </a:effectLst>
        </p:spPr>
      </p:sp>
      <p:sp>
        <p:nvSpPr>
          <p:cNvPr id="29" name="Shape 20"/>
          <p:cNvSpPr/>
          <p:nvPr/>
        </p:nvSpPr>
        <p:spPr>
          <a:xfrm>
            <a:off x="4027932" y="3392424"/>
            <a:ext cx="621792" cy="621792"/>
          </a:xfrm>
          <a:prstGeom prst="ellipse">
            <a:avLst/>
          </a:prstGeom>
          <a:solidFill>
            <a:srgbClr val="17A398"/>
          </a:solidFill>
          <a:ln/>
        </p:spPr>
      </p:sp>
      <p:pic>
        <p:nvPicPr>
          <p:cNvPr id="30" name="Image 7" descr="/home/claude/brickview/icons/monitor_w.png"/>
          <p:cNvPicPr>
            <a:picLocks noChangeAspect="1"/>
          </p:cNvPicPr>
          <p:nvPr/>
        </p:nvPicPr>
        <p:blipFill>
          <a:blip r:embed="rId8"/>
          <a:stretch>
            <a:fillRect/>
          </a:stretch>
        </p:blipFill>
        <p:spPr>
          <a:xfrm>
            <a:off x="4108765" y="3473257"/>
            <a:ext cx="460126" cy="460126"/>
          </a:xfrm>
          <a:prstGeom prst="rect">
            <a:avLst/>
          </a:prstGeom>
        </p:spPr>
      </p:pic>
      <p:sp>
        <p:nvSpPr>
          <p:cNvPr id="31" name="Text 21"/>
          <p:cNvSpPr/>
          <p:nvPr/>
        </p:nvSpPr>
        <p:spPr>
          <a:xfrm>
            <a:off x="3643884" y="4069080"/>
            <a:ext cx="1389888" cy="32004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Streamlit Dashboard</a:t>
            </a:r>
            <a:endParaRPr lang="en-US" sz="1150" dirty="0"/>
          </a:p>
        </p:txBody>
      </p:sp>
      <p:sp>
        <p:nvSpPr>
          <p:cNvPr id="32" name="Text 22"/>
          <p:cNvSpPr/>
          <p:nvPr/>
        </p:nvSpPr>
        <p:spPr>
          <a:xfrm>
            <a:off x="3643884" y="4233512"/>
            <a:ext cx="1389888" cy="502920"/>
          </a:xfrm>
          <a:prstGeom prst="rect">
            <a:avLst/>
          </a:prstGeom>
          <a:noFill/>
          <a:ln/>
        </p:spPr>
        <p:txBody>
          <a:bodyPr wrap="square" rtlCol="0" anchor="ctr"/>
          <a:lstStyle/>
          <a:p>
            <a:pPr marL="0" indent="0" algn="ctr">
              <a:buNone/>
            </a:pPr>
            <a:r>
              <a:rPr lang="en-US" sz="850" dirty="0">
                <a:solidFill>
                  <a:srgbClr val="F4F8FB"/>
                </a:solidFill>
                <a:latin typeface="Calibri" pitchFamily="34" charset="0"/>
                <a:ea typeface="Calibri" pitchFamily="34" charset="-122"/>
                <a:cs typeface="Calibri" pitchFamily="34" charset="-120"/>
              </a:rPr>
              <a:t>Interactive web interface</a:t>
            </a:r>
            <a:endParaRPr lang="en-US" sz="850" dirty="0"/>
          </a:p>
        </p:txBody>
      </p:sp>
      <p:sp>
        <p:nvSpPr>
          <p:cNvPr id="33" name="Shape 23"/>
          <p:cNvSpPr/>
          <p:nvPr/>
        </p:nvSpPr>
        <p:spPr>
          <a:xfrm>
            <a:off x="5097780" y="3959352"/>
            <a:ext cx="237744" cy="0"/>
          </a:xfrm>
          <a:prstGeom prst="line">
            <a:avLst/>
          </a:prstGeom>
          <a:noFill/>
          <a:ln w="25400">
            <a:solidFill>
              <a:srgbClr val="1C7293"/>
            </a:solidFill>
            <a:prstDash val="solid"/>
          </a:ln>
        </p:spPr>
      </p:sp>
      <p:sp>
        <p:nvSpPr>
          <p:cNvPr id="34" name="Shape 24"/>
          <p:cNvSpPr/>
          <p:nvPr/>
        </p:nvSpPr>
        <p:spPr>
          <a:xfrm>
            <a:off x="5353812" y="3246120"/>
            <a:ext cx="1481328" cy="1417320"/>
          </a:xfrm>
          <a:prstGeom prst="roundRect">
            <a:avLst>
              <a:gd name="adj" fmla="val 5806"/>
            </a:avLst>
          </a:prstGeom>
          <a:solidFill>
            <a:srgbClr val="0E5C8A"/>
          </a:solidFill>
          <a:ln w="12700">
            <a:solidFill>
              <a:srgbClr val="0E5C8A"/>
            </a:solidFill>
            <a:prstDash val="solid"/>
          </a:ln>
          <a:effectLst>
            <a:outerShdw blurRad="101600" dist="38100" dir="5400000" algn="bl" rotWithShape="0">
              <a:srgbClr val="1B2A3D">
                <a:alpha val="12000"/>
              </a:srgbClr>
            </a:outerShdw>
          </a:effectLst>
        </p:spPr>
      </p:sp>
      <p:sp>
        <p:nvSpPr>
          <p:cNvPr id="35" name="Shape 25"/>
          <p:cNvSpPr/>
          <p:nvPr/>
        </p:nvSpPr>
        <p:spPr>
          <a:xfrm>
            <a:off x="5783580" y="3392424"/>
            <a:ext cx="621792" cy="621792"/>
          </a:xfrm>
          <a:prstGeom prst="ellipse">
            <a:avLst/>
          </a:prstGeom>
          <a:solidFill>
            <a:srgbClr val="17A398"/>
          </a:solidFill>
          <a:ln/>
        </p:spPr>
      </p:sp>
      <p:pic>
        <p:nvPicPr>
          <p:cNvPr id="36" name="Image 8" descr="/home/claude/brickview/icons/users_w.png"/>
          <p:cNvPicPr>
            <a:picLocks noChangeAspect="1"/>
          </p:cNvPicPr>
          <p:nvPr/>
        </p:nvPicPr>
        <p:blipFill>
          <a:blip r:embed="rId9"/>
          <a:stretch>
            <a:fillRect/>
          </a:stretch>
        </p:blipFill>
        <p:spPr>
          <a:xfrm>
            <a:off x="5864413" y="3473257"/>
            <a:ext cx="460126" cy="460126"/>
          </a:xfrm>
          <a:prstGeom prst="rect">
            <a:avLst/>
          </a:prstGeom>
        </p:spPr>
      </p:pic>
      <p:sp>
        <p:nvSpPr>
          <p:cNvPr id="37" name="Text 26"/>
          <p:cNvSpPr/>
          <p:nvPr/>
        </p:nvSpPr>
        <p:spPr>
          <a:xfrm>
            <a:off x="5399532" y="4069080"/>
            <a:ext cx="1389888" cy="32004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User</a:t>
            </a:r>
            <a:endParaRPr lang="en-US" sz="1150" dirty="0"/>
          </a:p>
        </p:txBody>
      </p:sp>
      <p:sp>
        <p:nvSpPr>
          <p:cNvPr id="38" name="Text 27"/>
          <p:cNvSpPr/>
          <p:nvPr/>
        </p:nvSpPr>
        <p:spPr>
          <a:xfrm>
            <a:off x="5399532" y="4233512"/>
            <a:ext cx="1389888" cy="502920"/>
          </a:xfrm>
          <a:prstGeom prst="rect">
            <a:avLst/>
          </a:prstGeom>
          <a:noFill/>
          <a:ln/>
        </p:spPr>
        <p:txBody>
          <a:bodyPr wrap="square" rtlCol="0" anchor="ctr"/>
          <a:lstStyle/>
          <a:p>
            <a:pPr marL="0" indent="0" algn="ctr">
              <a:buNone/>
            </a:pPr>
            <a:r>
              <a:rPr lang="en-US" sz="850" dirty="0">
                <a:solidFill>
                  <a:srgbClr val="F4F8FB"/>
                </a:solidFill>
                <a:latin typeface="Calibri" pitchFamily="34" charset="0"/>
                <a:ea typeface="Calibri" pitchFamily="34" charset="-122"/>
                <a:cs typeface="Calibri" pitchFamily="34" charset="-120"/>
              </a:rPr>
              <a:t>Evaluator / business user</a:t>
            </a:r>
            <a:endParaRPr lang="en-US" sz="850" dirty="0"/>
          </a:p>
        </p:txBody>
      </p:sp>
      <p:sp>
        <p:nvSpPr>
          <p:cNvPr id="39" name="Shape 28"/>
          <p:cNvSpPr/>
          <p:nvPr/>
        </p:nvSpPr>
        <p:spPr>
          <a:xfrm>
            <a:off x="6853428" y="3959352"/>
            <a:ext cx="237744" cy="0"/>
          </a:xfrm>
          <a:prstGeom prst="line">
            <a:avLst/>
          </a:prstGeom>
          <a:noFill/>
          <a:ln w="25400">
            <a:solidFill>
              <a:srgbClr val="1C7293"/>
            </a:solidFill>
            <a:prstDash val="solid"/>
          </a:ln>
        </p:spPr>
      </p:sp>
      <p:sp>
        <p:nvSpPr>
          <p:cNvPr id="40" name="Shape 29"/>
          <p:cNvSpPr/>
          <p:nvPr/>
        </p:nvSpPr>
        <p:spPr>
          <a:xfrm>
            <a:off x="7109460" y="3246120"/>
            <a:ext cx="1481328" cy="1417320"/>
          </a:xfrm>
          <a:prstGeom prst="roundRect">
            <a:avLst>
              <a:gd name="adj" fmla="val 5806"/>
            </a:avLst>
          </a:prstGeom>
          <a:solidFill>
            <a:srgbClr val="0E5C8A"/>
          </a:solidFill>
          <a:ln w="12700">
            <a:solidFill>
              <a:srgbClr val="0E5C8A"/>
            </a:solidFill>
            <a:prstDash val="solid"/>
          </a:ln>
          <a:effectLst>
            <a:outerShdw blurRad="101600" dist="38100" dir="5400000" algn="bl" rotWithShape="0">
              <a:srgbClr val="1B2A3D">
                <a:alpha val="12000"/>
              </a:srgbClr>
            </a:outerShdw>
          </a:effectLst>
        </p:spPr>
      </p:sp>
      <p:sp>
        <p:nvSpPr>
          <p:cNvPr id="41" name="Shape 30"/>
          <p:cNvSpPr/>
          <p:nvPr/>
        </p:nvSpPr>
        <p:spPr>
          <a:xfrm>
            <a:off x="7539228" y="3392424"/>
            <a:ext cx="621792" cy="621792"/>
          </a:xfrm>
          <a:prstGeom prst="ellipse">
            <a:avLst/>
          </a:prstGeom>
          <a:solidFill>
            <a:srgbClr val="17A398"/>
          </a:solidFill>
          <a:ln/>
        </p:spPr>
      </p:sp>
      <p:pic>
        <p:nvPicPr>
          <p:cNvPr id="42" name="Image 9" descr="/home/claude/brickview/icons/trendUp_w.png"/>
          <p:cNvPicPr>
            <a:picLocks noChangeAspect="1"/>
          </p:cNvPicPr>
          <p:nvPr/>
        </p:nvPicPr>
        <p:blipFill>
          <a:blip r:embed="rId10"/>
          <a:stretch>
            <a:fillRect/>
          </a:stretch>
        </p:blipFill>
        <p:spPr>
          <a:xfrm>
            <a:off x="7620061" y="3473257"/>
            <a:ext cx="460126" cy="460126"/>
          </a:xfrm>
          <a:prstGeom prst="rect">
            <a:avLst/>
          </a:prstGeom>
        </p:spPr>
      </p:pic>
      <p:sp>
        <p:nvSpPr>
          <p:cNvPr id="43" name="Text 31"/>
          <p:cNvSpPr/>
          <p:nvPr/>
        </p:nvSpPr>
        <p:spPr>
          <a:xfrm>
            <a:off x="7155180" y="4069080"/>
            <a:ext cx="1389888" cy="320040"/>
          </a:xfrm>
          <a:prstGeom prst="rect">
            <a:avLst/>
          </a:prstGeom>
          <a:noFill/>
          <a:ln/>
        </p:spPr>
        <p:txBody>
          <a:bodyPr wrap="square"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Business Insights</a:t>
            </a:r>
            <a:endParaRPr lang="en-US" sz="1150" dirty="0"/>
          </a:p>
        </p:txBody>
      </p:sp>
      <p:sp>
        <p:nvSpPr>
          <p:cNvPr id="44" name="Text 32"/>
          <p:cNvSpPr/>
          <p:nvPr/>
        </p:nvSpPr>
        <p:spPr>
          <a:xfrm>
            <a:off x="7155180" y="4233512"/>
            <a:ext cx="1389888" cy="502920"/>
          </a:xfrm>
          <a:prstGeom prst="rect">
            <a:avLst/>
          </a:prstGeom>
          <a:noFill/>
          <a:ln/>
        </p:spPr>
        <p:txBody>
          <a:bodyPr wrap="square" rtlCol="0" anchor="ctr"/>
          <a:lstStyle/>
          <a:p>
            <a:pPr marL="0" indent="0" algn="ctr">
              <a:buNone/>
            </a:pPr>
            <a:r>
              <a:rPr lang="en-US" sz="850" dirty="0">
                <a:solidFill>
                  <a:srgbClr val="F4F8FB"/>
                </a:solidFill>
                <a:latin typeface="Calibri" pitchFamily="34" charset="0"/>
                <a:ea typeface="Calibri" pitchFamily="34" charset="-122"/>
                <a:cs typeface="Calibri" pitchFamily="34" charset="-120"/>
              </a:rPr>
              <a:t>Data-driven decisions</a:t>
            </a:r>
            <a:endParaRPr lang="en-US" sz="850" dirty="0"/>
          </a:p>
        </p:txBody>
      </p:sp>
      <p:sp>
        <p:nvSpPr>
          <p:cNvPr id="45" name="Shape 33"/>
          <p:cNvSpPr/>
          <p:nvPr/>
        </p:nvSpPr>
        <p:spPr>
          <a:xfrm rot="5400000">
            <a:off x="4229100" y="2139696"/>
            <a:ext cx="201168" cy="164592"/>
          </a:xfrm>
          <a:prstGeom prst="triangle">
            <a:avLst/>
          </a:prstGeom>
          <a:solidFill>
            <a:srgbClr val="1C7293"/>
          </a:solidFill>
          <a:ln/>
        </p:spPr>
      </p:sp>
      <p:sp>
        <p:nvSpPr>
          <p:cNvPr id="46" name="Shape 34"/>
          <p:cNvSpPr/>
          <p:nvPr/>
        </p:nvSpPr>
        <p:spPr>
          <a:xfrm rot="5400000">
            <a:off x="5984748" y="2139696"/>
            <a:ext cx="201168" cy="164592"/>
          </a:xfrm>
          <a:prstGeom prst="triangle">
            <a:avLst/>
          </a:prstGeom>
          <a:solidFill>
            <a:srgbClr val="1C7293"/>
          </a:solidFill>
          <a:ln/>
        </p:spPr>
      </p:sp>
      <p:sp>
        <p:nvSpPr>
          <p:cNvPr id="47" name="Shape 35"/>
          <p:cNvSpPr/>
          <p:nvPr/>
        </p:nvSpPr>
        <p:spPr>
          <a:xfrm rot="5400000">
            <a:off x="7740396" y="2139696"/>
            <a:ext cx="201168" cy="164592"/>
          </a:xfrm>
          <a:prstGeom prst="triangle">
            <a:avLst/>
          </a:prstGeom>
          <a:solidFill>
            <a:srgbClr val="1C7293"/>
          </a:solidFill>
          <a:ln/>
        </p:spPr>
      </p:sp>
      <p:sp>
        <p:nvSpPr>
          <p:cNvPr id="48" name="Shape 36"/>
          <p:cNvSpPr/>
          <p:nvPr/>
        </p:nvSpPr>
        <p:spPr>
          <a:xfrm rot="5400000">
            <a:off x="5106924" y="3877056"/>
            <a:ext cx="201168" cy="164592"/>
          </a:xfrm>
          <a:prstGeom prst="triangle">
            <a:avLst/>
          </a:prstGeom>
          <a:solidFill>
            <a:srgbClr val="17A398"/>
          </a:solidFill>
          <a:ln/>
        </p:spPr>
      </p:sp>
      <p:sp>
        <p:nvSpPr>
          <p:cNvPr id="49" name="Shape 37"/>
          <p:cNvSpPr/>
          <p:nvPr/>
        </p:nvSpPr>
        <p:spPr>
          <a:xfrm rot="5400000">
            <a:off x="6862572" y="3877056"/>
            <a:ext cx="201168" cy="164592"/>
          </a:xfrm>
          <a:prstGeom prst="triangle">
            <a:avLst/>
          </a:prstGeom>
          <a:solidFill>
            <a:srgbClr val="17A398"/>
          </a:solidFill>
          <a:ln/>
        </p:spPr>
      </p:sp>
      <p:sp>
        <p:nvSpPr>
          <p:cNvPr id="51" name="Text 39"/>
          <p:cNvSpPr/>
          <p:nvPr/>
        </p:nvSpPr>
        <p:spPr>
          <a:xfrm>
            <a:off x="640080" y="4800600"/>
            <a:ext cx="10881360" cy="457200"/>
          </a:xfrm>
          <a:prstGeom prst="rect">
            <a:avLst/>
          </a:prstGeom>
          <a:noFill/>
          <a:ln/>
        </p:spPr>
        <p:txBody>
          <a:bodyPr wrap="square" rtlCol="0" anchor="ctr"/>
          <a:lstStyle/>
          <a:p>
            <a:pPr marL="0" indent="0" algn="ctr">
              <a:buNone/>
            </a:pPr>
            <a:r>
              <a:rPr lang="en-US" sz="1200" i="1" dirty="0">
                <a:solidFill>
                  <a:srgbClr val="0E5C8A"/>
                </a:solidFill>
                <a:latin typeface="Calibri" pitchFamily="34" charset="0"/>
                <a:ea typeface="Calibri" pitchFamily="34" charset="-122"/>
                <a:cs typeface="Calibri" pitchFamily="34" charset="-120"/>
              </a:rPr>
              <a:t>Data flows from raw files through cleaning and structured storage into a live dashboard that turns numbers into decisions.</a:t>
            </a:r>
            <a:endParaRPr lang="en-US" sz="1200" dirty="0"/>
          </a:p>
        </p:txBody>
      </p:sp>
      <p:sp>
        <p:nvSpPr>
          <p:cNvPr id="52" name="Text 4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System Architecture</a:t>
            </a:r>
            <a:endParaRPr lang="en-US" sz="900" dirty="0"/>
          </a:p>
        </p:txBody>
      </p:sp>
      <p:sp>
        <p:nvSpPr>
          <p:cNvPr id="53" name="Text 4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
        <p:nvSpPr>
          <p:cNvPr id="54" name="Text 42"/>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cxnSp>
        <p:nvCxnSpPr>
          <p:cNvPr id="56" name="Connector: Elbow 55">
            <a:extLst>
              <a:ext uri="{FF2B5EF4-FFF2-40B4-BE49-F238E27FC236}">
                <a16:creationId xmlns:a16="http://schemas.microsoft.com/office/drawing/2014/main" id="{7EDDB0C2-18CB-062C-DBED-1C397236B028}"/>
              </a:ext>
            </a:extLst>
          </p:cNvPr>
          <p:cNvCxnSpPr>
            <a:cxnSpLocks/>
            <a:stCxn id="22" idx="2"/>
          </p:cNvCxnSpPr>
          <p:nvPr/>
        </p:nvCxnSpPr>
        <p:spPr>
          <a:xfrm rot="5400000">
            <a:off x="5798940" y="175140"/>
            <a:ext cx="178069" cy="567994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ADDCDE85-F228-232C-482D-C138CB90247D}"/>
              </a:ext>
            </a:extLst>
          </p:cNvPr>
          <p:cNvCxnSpPr/>
          <p:nvPr/>
        </p:nvCxnSpPr>
        <p:spPr>
          <a:xfrm rot="16200000" flipH="1">
            <a:off x="2725515" y="3426634"/>
            <a:ext cx="1195135" cy="550164"/>
          </a:xfrm>
          <a:prstGeom prst="bentConnector3">
            <a:avLst>
              <a:gd name="adj1" fmla="val 70135"/>
            </a:avLst>
          </a:prstGeom>
        </p:spPr>
        <p:style>
          <a:lnRef idx="1">
            <a:schemeClr val="accent1"/>
          </a:lnRef>
          <a:fillRef idx="0">
            <a:schemeClr val="accent1"/>
          </a:fillRef>
          <a:effectRef idx="0">
            <a:schemeClr val="accent1"/>
          </a:effectRef>
          <a:fontRef idx="minor">
            <a:schemeClr val="tx1"/>
          </a:fontRef>
        </p:style>
      </p:cxnSp>
      <p:sp>
        <p:nvSpPr>
          <p:cNvPr id="66" name="Shape 36">
            <a:extLst>
              <a:ext uri="{FF2B5EF4-FFF2-40B4-BE49-F238E27FC236}">
                <a16:creationId xmlns:a16="http://schemas.microsoft.com/office/drawing/2014/main" id="{0A32ABEC-A138-9A16-F707-1C9574F79CDA}"/>
              </a:ext>
            </a:extLst>
          </p:cNvPr>
          <p:cNvSpPr/>
          <p:nvPr/>
        </p:nvSpPr>
        <p:spPr>
          <a:xfrm rot="5400000">
            <a:off x="3300984" y="3860050"/>
            <a:ext cx="201168" cy="164592"/>
          </a:xfrm>
          <a:prstGeom prst="triangle">
            <a:avLst/>
          </a:prstGeom>
          <a:solidFill>
            <a:srgbClr val="17A398"/>
          </a:solidFill>
          <a:ln/>
        </p:spPr>
        <p:txBody>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DATA MODEL</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Database Design</a:t>
            </a:r>
            <a:endParaRPr lang="en-US" sz="3200" dirty="0"/>
          </a:p>
        </p:txBody>
      </p:sp>
      <p:sp>
        <p:nvSpPr>
          <p:cNvPr id="4" name="Shape 2"/>
          <p:cNvSpPr/>
          <p:nvPr/>
        </p:nvSpPr>
        <p:spPr>
          <a:xfrm>
            <a:off x="4846320" y="2880360"/>
            <a:ext cx="2514600" cy="1691640"/>
          </a:xfrm>
          <a:prstGeom prst="roundRect">
            <a:avLst>
              <a:gd name="adj" fmla="val 4865"/>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5" name="Shape 3"/>
          <p:cNvSpPr/>
          <p:nvPr/>
        </p:nvSpPr>
        <p:spPr>
          <a:xfrm>
            <a:off x="4846320" y="2880360"/>
            <a:ext cx="2514600" cy="384048"/>
          </a:xfrm>
          <a:prstGeom prst="roundRect">
            <a:avLst>
              <a:gd name="adj" fmla="val 21429"/>
            </a:avLst>
          </a:prstGeom>
          <a:solidFill>
            <a:srgbClr val="0B2A4A"/>
          </a:solidFill>
          <a:ln/>
        </p:spPr>
      </p:sp>
      <p:sp>
        <p:nvSpPr>
          <p:cNvPr id="6" name="Shape 4"/>
          <p:cNvSpPr/>
          <p:nvPr/>
        </p:nvSpPr>
        <p:spPr>
          <a:xfrm>
            <a:off x="4846320" y="3072384"/>
            <a:ext cx="2514600" cy="192024"/>
          </a:xfrm>
          <a:prstGeom prst="rect">
            <a:avLst/>
          </a:prstGeom>
          <a:solidFill>
            <a:srgbClr val="0B2A4A"/>
          </a:solidFill>
          <a:ln/>
        </p:spPr>
      </p:sp>
      <p:pic>
        <p:nvPicPr>
          <p:cNvPr id="7" name="Image 0" descr="/home/claude/brickview/icons/database_w.png"/>
          <p:cNvPicPr>
            <a:picLocks noChangeAspect="1"/>
          </p:cNvPicPr>
          <p:nvPr/>
        </p:nvPicPr>
        <p:blipFill>
          <a:blip r:embed="rId3"/>
          <a:stretch>
            <a:fillRect/>
          </a:stretch>
        </p:blipFill>
        <p:spPr>
          <a:xfrm>
            <a:off x="4937760" y="2953512"/>
            <a:ext cx="237744" cy="237744"/>
          </a:xfrm>
          <a:prstGeom prst="rect">
            <a:avLst/>
          </a:prstGeom>
        </p:spPr>
      </p:pic>
      <p:sp>
        <p:nvSpPr>
          <p:cNvPr id="8" name="Text 5"/>
          <p:cNvSpPr/>
          <p:nvPr/>
        </p:nvSpPr>
        <p:spPr>
          <a:xfrm>
            <a:off x="5230368" y="2880360"/>
            <a:ext cx="2057400" cy="38404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Listings</a:t>
            </a:r>
            <a:endParaRPr lang="en-US" sz="1250" dirty="0"/>
          </a:p>
        </p:txBody>
      </p:sp>
      <p:sp>
        <p:nvSpPr>
          <p:cNvPr id="9" name="Text 6"/>
          <p:cNvSpPr/>
          <p:nvPr/>
        </p:nvSpPr>
        <p:spPr>
          <a:xfrm>
            <a:off x="5010912" y="3383280"/>
            <a:ext cx="2185416" cy="905256"/>
          </a:xfrm>
          <a:prstGeom prst="rect">
            <a:avLst/>
          </a:prstGeom>
          <a:noFill/>
          <a:ln/>
        </p:spPr>
        <p:txBody>
          <a:bodyPr wrap="square" rtlCol="0" anchor="ctr"/>
          <a:lstStyle/>
          <a:p>
            <a:r>
              <a:rPr lang="en-US" sz="950" dirty="0"/>
              <a:t>PK </a:t>
            </a:r>
            <a:r>
              <a:rPr lang="en-US" sz="950" dirty="0" err="1"/>
              <a:t>Listing_id</a:t>
            </a:r>
            <a:r>
              <a:rPr lang="en-US" sz="950" dirty="0"/>
              <a:t>,</a:t>
            </a:r>
          </a:p>
          <a:p>
            <a:r>
              <a:rPr lang="en-US" sz="950" dirty="0"/>
              <a:t>City, </a:t>
            </a:r>
            <a:r>
              <a:rPr lang="en-US" sz="950" dirty="0" err="1"/>
              <a:t>Property_type</a:t>
            </a:r>
            <a:r>
              <a:rPr lang="en-US" sz="950" dirty="0"/>
              <a:t>, </a:t>
            </a:r>
          </a:p>
          <a:p>
            <a:r>
              <a:rPr lang="en-US" sz="950" dirty="0"/>
              <a:t>Price, </a:t>
            </a:r>
            <a:r>
              <a:rPr lang="en-US" sz="950" dirty="0" err="1"/>
              <a:t>Sqft</a:t>
            </a:r>
            <a:r>
              <a:rPr lang="en-US" sz="950" dirty="0"/>
              <a:t>,</a:t>
            </a:r>
          </a:p>
          <a:p>
            <a:r>
              <a:rPr lang="en-US" sz="950" dirty="0" err="1"/>
              <a:t>Date_listed</a:t>
            </a:r>
            <a:r>
              <a:rPr lang="en-US" sz="950" dirty="0"/>
              <a:t>,</a:t>
            </a:r>
          </a:p>
          <a:p>
            <a:r>
              <a:rPr lang="en-US" sz="950" dirty="0" err="1"/>
              <a:t>Agent_ID</a:t>
            </a:r>
            <a:r>
              <a:rPr lang="en-US" sz="950" dirty="0"/>
              <a:t>, </a:t>
            </a:r>
          </a:p>
          <a:p>
            <a:r>
              <a:rPr lang="en-US" sz="950" dirty="0"/>
              <a:t>Latitude, Longitude</a:t>
            </a:r>
          </a:p>
        </p:txBody>
      </p:sp>
      <p:sp>
        <p:nvSpPr>
          <p:cNvPr id="13" name="Shape 10"/>
          <p:cNvSpPr/>
          <p:nvPr/>
        </p:nvSpPr>
        <p:spPr>
          <a:xfrm>
            <a:off x="2148840" y="1211345"/>
            <a:ext cx="2377440" cy="1691640"/>
          </a:xfrm>
          <a:prstGeom prst="roundRect">
            <a:avLst>
              <a:gd name="adj" fmla="val 4865"/>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txBody>
          <a:bodyPr/>
          <a:lstStyle/>
          <a:p>
            <a:endParaRPr lang="en-IN" dirty="0"/>
          </a:p>
        </p:txBody>
      </p:sp>
      <p:sp>
        <p:nvSpPr>
          <p:cNvPr id="14" name="Shape 11"/>
          <p:cNvSpPr/>
          <p:nvPr/>
        </p:nvSpPr>
        <p:spPr>
          <a:xfrm>
            <a:off x="2148840" y="1211345"/>
            <a:ext cx="2377440" cy="384048"/>
          </a:xfrm>
          <a:prstGeom prst="roundRect">
            <a:avLst>
              <a:gd name="adj" fmla="val 21429"/>
            </a:avLst>
          </a:prstGeom>
          <a:solidFill>
            <a:srgbClr val="0E5C8A"/>
          </a:solidFill>
          <a:ln/>
        </p:spPr>
      </p:sp>
      <p:sp>
        <p:nvSpPr>
          <p:cNvPr id="15" name="Shape 12"/>
          <p:cNvSpPr/>
          <p:nvPr/>
        </p:nvSpPr>
        <p:spPr>
          <a:xfrm>
            <a:off x="2148840" y="1243584"/>
            <a:ext cx="2377440" cy="192024"/>
          </a:xfrm>
          <a:prstGeom prst="rect">
            <a:avLst/>
          </a:prstGeom>
          <a:solidFill>
            <a:srgbClr val="0E5C8A"/>
          </a:solidFill>
          <a:ln/>
        </p:spPr>
      </p:sp>
      <p:pic>
        <p:nvPicPr>
          <p:cNvPr id="16" name="Image 1" descr="/home/claude/brickview/icons/database_w.png"/>
          <p:cNvPicPr>
            <a:picLocks noChangeAspect="1"/>
          </p:cNvPicPr>
          <p:nvPr/>
        </p:nvPicPr>
        <p:blipFill>
          <a:blip r:embed="rId3"/>
          <a:stretch>
            <a:fillRect/>
          </a:stretch>
        </p:blipFill>
        <p:spPr>
          <a:xfrm>
            <a:off x="2240280" y="1284497"/>
            <a:ext cx="237744" cy="237744"/>
          </a:xfrm>
          <a:prstGeom prst="rect">
            <a:avLst/>
          </a:prstGeom>
        </p:spPr>
      </p:pic>
      <p:sp>
        <p:nvSpPr>
          <p:cNvPr id="17" name="Text 13"/>
          <p:cNvSpPr/>
          <p:nvPr/>
        </p:nvSpPr>
        <p:spPr>
          <a:xfrm>
            <a:off x="2532888" y="1211345"/>
            <a:ext cx="1920240" cy="38404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Property Attributes</a:t>
            </a:r>
            <a:endParaRPr lang="en-US" sz="1250" dirty="0"/>
          </a:p>
        </p:txBody>
      </p:sp>
      <p:sp>
        <p:nvSpPr>
          <p:cNvPr id="18" name="Text 14"/>
          <p:cNvSpPr/>
          <p:nvPr/>
        </p:nvSpPr>
        <p:spPr>
          <a:xfrm>
            <a:off x="2313432" y="1668545"/>
            <a:ext cx="2048256" cy="1056132"/>
          </a:xfrm>
          <a:prstGeom prst="rect">
            <a:avLst/>
          </a:prstGeom>
          <a:noFill/>
          <a:ln/>
        </p:spPr>
        <p:txBody>
          <a:bodyPr wrap="square" rtlCol="0" anchor="ctr"/>
          <a:lstStyle/>
          <a:p>
            <a:r>
              <a:rPr lang="en-US" sz="950" dirty="0"/>
              <a:t>PK </a:t>
            </a:r>
            <a:r>
              <a:rPr lang="en-US" sz="950" dirty="0" err="1"/>
              <a:t>attribute_id</a:t>
            </a:r>
            <a:r>
              <a:rPr lang="en-US" sz="950" dirty="0"/>
              <a:t>, </a:t>
            </a:r>
          </a:p>
          <a:p>
            <a:r>
              <a:rPr lang="en-US" sz="950" dirty="0"/>
              <a:t>FK </a:t>
            </a:r>
            <a:r>
              <a:rPr lang="en-US" sz="950" dirty="0" err="1"/>
              <a:t>listing_id</a:t>
            </a:r>
            <a:r>
              <a:rPr lang="en-US" sz="950" dirty="0"/>
              <a:t>, bedrooms, bathrooms, </a:t>
            </a:r>
            <a:r>
              <a:rPr lang="en-US" sz="950" dirty="0" err="1"/>
              <a:t>floor_number</a:t>
            </a:r>
            <a:r>
              <a:rPr lang="en-US" sz="950" dirty="0"/>
              <a:t>, </a:t>
            </a:r>
            <a:r>
              <a:rPr lang="en-US" sz="950" dirty="0" err="1"/>
              <a:t>total_floors</a:t>
            </a:r>
            <a:r>
              <a:rPr lang="en-US" sz="950" dirty="0"/>
              <a:t>, </a:t>
            </a:r>
            <a:r>
              <a:rPr lang="en-US" sz="950" dirty="0" err="1"/>
              <a:t>year_built</a:t>
            </a:r>
            <a:r>
              <a:rPr lang="en-US" sz="950" dirty="0"/>
              <a:t>, </a:t>
            </a:r>
            <a:r>
              <a:rPr lang="en-US" sz="950" dirty="0" err="1"/>
              <a:t>is_rented</a:t>
            </a:r>
            <a:r>
              <a:rPr lang="en-US" sz="950" dirty="0"/>
              <a:t>, </a:t>
            </a:r>
            <a:r>
              <a:rPr lang="en-US" sz="950" dirty="0" err="1"/>
              <a:t>tenant_count</a:t>
            </a:r>
            <a:r>
              <a:rPr lang="en-US" sz="950" dirty="0"/>
              <a:t>, </a:t>
            </a:r>
            <a:r>
              <a:rPr lang="en-US" sz="950" dirty="0" err="1"/>
              <a:t>furnishing_status</a:t>
            </a:r>
            <a:r>
              <a:rPr lang="en-US" sz="950" dirty="0"/>
              <a:t>, </a:t>
            </a:r>
            <a:r>
              <a:rPr lang="en-US" sz="950" dirty="0" err="1"/>
              <a:t>metro_distance_km</a:t>
            </a:r>
            <a:r>
              <a:rPr lang="en-US" sz="950" dirty="0"/>
              <a:t>, </a:t>
            </a:r>
            <a:r>
              <a:rPr lang="en-US" sz="950" dirty="0" err="1"/>
              <a:t>parking_available</a:t>
            </a:r>
            <a:r>
              <a:rPr lang="en-US" sz="950" dirty="0"/>
              <a:t>, </a:t>
            </a:r>
            <a:r>
              <a:rPr lang="en-US" sz="950" dirty="0" err="1"/>
              <a:t>power_backup</a:t>
            </a:r>
            <a:endParaRPr lang="en-US" sz="950" dirty="0"/>
          </a:p>
        </p:txBody>
      </p:sp>
      <p:sp>
        <p:nvSpPr>
          <p:cNvPr id="22" name="Shape 18"/>
          <p:cNvSpPr/>
          <p:nvPr/>
        </p:nvSpPr>
        <p:spPr>
          <a:xfrm>
            <a:off x="502920" y="3977640"/>
            <a:ext cx="2331720" cy="1691640"/>
          </a:xfrm>
          <a:prstGeom prst="roundRect">
            <a:avLst>
              <a:gd name="adj" fmla="val 4865"/>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3" name="Shape 19"/>
          <p:cNvSpPr/>
          <p:nvPr/>
        </p:nvSpPr>
        <p:spPr>
          <a:xfrm>
            <a:off x="502920" y="3977640"/>
            <a:ext cx="2331720" cy="384048"/>
          </a:xfrm>
          <a:prstGeom prst="roundRect">
            <a:avLst>
              <a:gd name="adj" fmla="val 21429"/>
            </a:avLst>
          </a:prstGeom>
          <a:solidFill>
            <a:srgbClr val="1C7293"/>
          </a:solidFill>
          <a:ln/>
        </p:spPr>
      </p:sp>
      <p:sp>
        <p:nvSpPr>
          <p:cNvPr id="24" name="Shape 20"/>
          <p:cNvSpPr/>
          <p:nvPr/>
        </p:nvSpPr>
        <p:spPr>
          <a:xfrm>
            <a:off x="502920" y="4169664"/>
            <a:ext cx="2331720" cy="192024"/>
          </a:xfrm>
          <a:prstGeom prst="rect">
            <a:avLst/>
          </a:prstGeom>
          <a:solidFill>
            <a:srgbClr val="1C7293"/>
          </a:solidFill>
          <a:ln/>
        </p:spPr>
      </p:sp>
      <p:pic>
        <p:nvPicPr>
          <p:cNvPr id="25" name="Image 2" descr="/home/claude/brickview/icons/database_w.png"/>
          <p:cNvPicPr>
            <a:picLocks noChangeAspect="1"/>
          </p:cNvPicPr>
          <p:nvPr/>
        </p:nvPicPr>
        <p:blipFill>
          <a:blip r:embed="rId3"/>
          <a:stretch>
            <a:fillRect/>
          </a:stretch>
        </p:blipFill>
        <p:spPr>
          <a:xfrm>
            <a:off x="594360" y="4050792"/>
            <a:ext cx="237744" cy="237744"/>
          </a:xfrm>
          <a:prstGeom prst="rect">
            <a:avLst/>
          </a:prstGeom>
        </p:spPr>
      </p:pic>
      <p:sp>
        <p:nvSpPr>
          <p:cNvPr id="26" name="Text 21"/>
          <p:cNvSpPr/>
          <p:nvPr/>
        </p:nvSpPr>
        <p:spPr>
          <a:xfrm>
            <a:off x="886968" y="3977640"/>
            <a:ext cx="1874520" cy="38404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Agents</a:t>
            </a:r>
            <a:endParaRPr lang="en-US" sz="1250" dirty="0"/>
          </a:p>
        </p:txBody>
      </p:sp>
      <p:sp>
        <p:nvSpPr>
          <p:cNvPr id="27" name="Text 22"/>
          <p:cNvSpPr/>
          <p:nvPr/>
        </p:nvSpPr>
        <p:spPr>
          <a:xfrm>
            <a:off x="667512" y="4434839"/>
            <a:ext cx="2002536" cy="1106189"/>
          </a:xfrm>
          <a:prstGeom prst="rect">
            <a:avLst/>
          </a:prstGeom>
          <a:noFill/>
          <a:ln/>
        </p:spPr>
        <p:txBody>
          <a:bodyPr wrap="square" rtlCol="0" anchor="ctr"/>
          <a:lstStyle/>
          <a:p>
            <a:r>
              <a:rPr lang="en-US" sz="950" dirty="0">
                <a:solidFill>
                  <a:srgbClr val="16263B"/>
                </a:solidFill>
                <a:latin typeface="Calibri" pitchFamily="34" charset="0"/>
                <a:ea typeface="Calibri" pitchFamily="34" charset="-122"/>
                <a:cs typeface="Calibri" pitchFamily="34" charset="-120"/>
              </a:rPr>
              <a:t>PK </a:t>
            </a:r>
            <a:r>
              <a:rPr lang="en-US" sz="950" dirty="0" err="1">
                <a:solidFill>
                  <a:srgbClr val="16263B"/>
                </a:solidFill>
                <a:latin typeface="Calibri" pitchFamily="34" charset="0"/>
                <a:ea typeface="Calibri" pitchFamily="34" charset="-122"/>
                <a:cs typeface="Calibri" pitchFamily="34" charset="-120"/>
              </a:rPr>
              <a:t>Agent_ID</a:t>
            </a:r>
            <a:r>
              <a:rPr lang="en-US" sz="950" dirty="0">
                <a:solidFill>
                  <a:srgbClr val="16263B"/>
                </a:solidFill>
                <a:latin typeface="Calibri" pitchFamily="34" charset="0"/>
                <a:ea typeface="Calibri" pitchFamily="34" charset="-122"/>
                <a:cs typeface="Calibri" pitchFamily="34" charset="-120"/>
              </a:rPr>
              <a:t>,</a:t>
            </a:r>
          </a:p>
          <a:p>
            <a:r>
              <a:rPr lang="en-US" sz="950" dirty="0">
                <a:solidFill>
                  <a:srgbClr val="16263B"/>
                </a:solidFill>
                <a:latin typeface="Calibri" pitchFamily="34" charset="0"/>
                <a:ea typeface="Calibri" pitchFamily="34" charset="-122"/>
                <a:cs typeface="Calibri" pitchFamily="34" charset="-120"/>
              </a:rPr>
              <a:t>Name, Phone, Email, </a:t>
            </a:r>
            <a:r>
              <a:rPr lang="en-US" sz="950" dirty="0" err="1">
                <a:solidFill>
                  <a:srgbClr val="16263B"/>
                </a:solidFill>
                <a:latin typeface="Calibri" pitchFamily="34" charset="0"/>
                <a:ea typeface="Calibri" pitchFamily="34" charset="-122"/>
                <a:cs typeface="Calibri" pitchFamily="34" charset="-120"/>
              </a:rPr>
              <a:t>commission_rate</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deals_closed</a:t>
            </a:r>
            <a:r>
              <a:rPr lang="en-US" sz="950" dirty="0">
                <a:solidFill>
                  <a:srgbClr val="16263B"/>
                </a:solidFill>
                <a:latin typeface="Calibri" pitchFamily="34" charset="0"/>
                <a:ea typeface="Calibri" pitchFamily="34" charset="-122"/>
                <a:cs typeface="Calibri" pitchFamily="34" charset="-120"/>
              </a:rPr>
              <a:t>, rating, </a:t>
            </a:r>
            <a:r>
              <a:rPr lang="en-US" sz="950" dirty="0" err="1">
                <a:solidFill>
                  <a:srgbClr val="16263B"/>
                </a:solidFill>
                <a:latin typeface="Calibri" pitchFamily="34" charset="0"/>
                <a:ea typeface="Calibri" pitchFamily="34" charset="-122"/>
                <a:cs typeface="Calibri" pitchFamily="34" charset="-120"/>
              </a:rPr>
              <a:t>experience_years</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avg_closing_days</a:t>
            </a:r>
            <a:endParaRPr lang="en-US" sz="950" dirty="0"/>
          </a:p>
        </p:txBody>
      </p:sp>
      <p:sp>
        <p:nvSpPr>
          <p:cNvPr id="31" name="Shape 26"/>
          <p:cNvSpPr/>
          <p:nvPr/>
        </p:nvSpPr>
        <p:spPr>
          <a:xfrm>
            <a:off x="7863840" y="1051560"/>
            <a:ext cx="2331720" cy="1691640"/>
          </a:xfrm>
          <a:prstGeom prst="roundRect">
            <a:avLst>
              <a:gd name="adj" fmla="val 4865"/>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2" name="Shape 27"/>
          <p:cNvSpPr/>
          <p:nvPr/>
        </p:nvSpPr>
        <p:spPr>
          <a:xfrm>
            <a:off x="7863840" y="1051560"/>
            <a:ext cx="2331720" cy="384048"/>
          </a:xfrm>
          <a:prstGeom prst="roundRect">
            <a:avLst>
              <a:gd name="adj" fmla="val 21429"/>
            </a:avLst>
          </a:prstGeom>
          <a:solidFill>
            <a:srgbClr val="1C7293"/>
          </a:solidFill>
          <a:ln/>
        </p:spPr>
      </p:sp>
      <p:sp>
        <p:nvSpPr>
          <p:cNvPr id="33" name="Shape 28"/>
          <p:cNvSpPr/>
          <p:nvPr/>
        </p:nvSpPr>
        <p:spPr>
          <a:xfrm>
            <a:off x="7863840" y="1243584"/>
            <a:ext cx="2331720" cy="192024"/>
          </a:xfrm>
          <a:prstGeom prst="rect">
            <a:avLst/>
          </a:prstGeom>
          <a:solidFill>
            <a:srgbClr val="1C7293"/>
          </a:solidFill>
          <a:ln/>
        </p:spPr>
      </p:sp>
      <p:pic>
        <p:nvPicPr>
          <p:cNvPr id="34" name="Image 3" descr="/home/claude/brickview/icons/database_w.png"/>
          <p:cNvPicPr>
            <a:picLocks noChangeAspect="1"/>
          </p:cNvPicPr>
          <p:nvPr/>
        </p:nvPicPr>
        <p:blipFill>
          <a:blip r:embed="rId3"/>
          <a:stretch>
            <a:fillRect/>
          </a:stretch>
        </p:blipFill>
        <p:spPr>
          <a:xfrm>
            <a:off x="7955280" y="1124712"/>
            <a:ext cx="237744" cy="237744"/>
          </a:xfrm>
          <a:prstGeom prst="rect">
            <a:avLst/>
          </a:prstGeom>
        </p:spPr>
      </p:pic>
      <p:sp>
        <p:nvSpPr>
          <p:cNvPr id="35" name="Text 29"/>
          <p:cNvSpPr/>
          <p:nvPr/>
        </p:nvSpPr>
        <p:spPr>
          <a:xfrm>
            <a:off x="8247888" y="1051560"/>
            <a:ext cx="1874520" cy="38404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Buyers</a:t>
            </a:r>
            <a:endParaRPr lang="en-US" sz="1250" dirty="0"/>
          </a:p>
        </p:txBody>
      </p:sp>
      <p:sp>
        <p:nvSpPr>
          <p:cNvPr id="36" name="Text 30"/>
          <p:cNvSpPr/>
          <p:nvPr/>
        </p:nvSpPr>
        <p:spPr>
          <a:xfrm>
            <a:off x="8028432" y="1508760"/>
            <a:ext cx="2002536" cy="987552"/>
          </a:xfrm>
          <a:prstGeom prst="rect">
            <a:avLst/>
          </a:prstGeom>
          <a:noFill/>
          <a:ln/>
        </p:spPr>
        <p:txBody>
          <a:bodyPr wrap="square" rtlCol="0" anchor="ctr"/>
          <a:lstStyle/>
          <a:p>
            <a:r>
              <a:rPr lang="en-US" sz="950" dirty="0">
                <a:solidFill>
                  <a:srgbClr val="16263B"/>
                </a:solidFill>
                <a:latin typeface="Calibri" pitchFamily="34" charset="0"/>
                <a:ea typeface="Calibri" pitchFamily="34" charset="-122"/>
                <a:cs typeface="Calibri" pitchFamily="34" charset="-120"/>
              </a:rPr>
              <a:t>PK </a:t>
            </a:r>
            <a:r>
              <a:rPr lang="en-US" sz="950" dirty="0" err="1">
                <a:solidFill>
                  <a:srgbClr val="16263B"/>
                </a:solidFill>
                <a:latin typeface="Calibri" pitchFamily="34" charset="0"/>
                <a:ea typeface="Calibri" pitchFamily="34" charset="-122"/>
                <a:cs typeface="Calibri" pitchFamily="34" charset="-120"/>
              </a:rPr>
              <a:t>buyer_id</a:t>
            </a:r>
            <a:r>
              <a:rPr lang="en-US" sz="950" dirty="0">
                <a:solidFill>
                  <a:srgbClr val="16263B"/>
                </a:solidFill>
                <a:latin typeface="Calibri" pitchFamily="34" charset="0"/>
                <a:ea typeface="Calibri" pitchFamily="34" charset="-122"/>
                <a:cs typeface="Calibri" pitchFamily="34" charset="-120"/>
              </a:rPr>
              <a:t>,</a:t>
            </a:r>
          </a:p>
          <a:p>
            <a:r>
              <a:rPr lang="en-US" sz="950" dirty="0">
                <a:solidFill>
                  <a:srgbClr val="16263B"/>
                </a:solidFill>
                <a:latin typeface="Calibri" pitchFamily="34" charset="0"/>
                <a:ea typeface="Calibri" pitchFamily="34" charset="-122"/>
                <a:cs typeface="Calibri" pitchFamily="34" charset="-120"/>
              </a:rPr>
              <a:t>FK </a:t>
            </a:r>
            <a:r>
              <a:rPr lang="en-US" sz="950" dirty="0" err="1">
                <a:solidFill>
                  <a:srgbClr val="16263B"/>
                </a:solidFill>
                <a:latin typeface="Calibri" pitchFamily="34" charset="0"/>
                <a:ea typeface="Calibri" pitchFamily="34" charset="-122"/>
                <a:cs typeface="Calibri" pitchFamily="34" charset="-120"/>
              </a:rPr>
              <a:t>sale_id</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buyer_type</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payment_mode</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loan_taken</a:t>
            </a:r>
            <a:r>
              <a:rPr lang="en-US" sz="950" dirty="0">
                <a:solidFill>
                  <a:srgbClr val="16263B"/>
                </a:solidFill>
                <a:latin typeface="Calibri" pitchFamily="34" charset="0"/>
                <a:ea typeface="Calibri" pitchFamily="34" charset="-122"/>
                <a:cs typeface="Calibri" pitchFamily="34" charset="-120"/>
              </a:rPr>
              <a:t>, </a:t>
            </a:r>
            <a:r>
              <a:rPr lang="en-US" sz="950" dirty="0" err="1">
                <a:solidFill>
                  <a:srgbClr val="16263B"/>
                </a:solidFill>
                <a:latin typeface="Calibri" pitchFamily="34" charset="0"/>
                <a:ea typeface="Calibri" pitchFamily="34" charset="-122"/>
                <a:cs typeface="Calibri" pitchFamily="34" charset="-120"/>
              </a:rPr>
              <a:t>loan_provider</a:t>
            </a:r>
            <a:r>
              <a:rPr lang="en-US" sz="950" dirty="0">
                <a:solidFill>
                  <a:srgbClr val="16263B"/>
                </a:solidFill>
                <a:latin typeface="Calibri" pitchFamily="34" charset="0"/>
                <a:ea typeface="Calibri" pitchFamily="34" charset="-122"/>
                <a:cs typeface="Calibri" pitchFamily="34" charset="-120"/>
              </a:rPr>
              <a:t>, </a:t>
            </a:r>
            <a:r>
              <a:rPr lang="en-US" sz="950" dirty="0" err="1">
                <a:solidFill>
                  <a:srgbClr val="16263B"/>
                </a:solidFill>
                <a:latin typeface="Calibri" pitchFamily="34" charset="0"/>
                <a:ea typeface="Calibri" pitchFamily="34" charset="-122"/>
                <a:cs typeface="Calibri" pitchFamily="34" charset="-120"/>
              </a:rPr>
              <a:t>loan_amount</a:t>
            </a:r>
            <a:endParaRPr lang="en-US" sz="950" dirty="0"/>
          </a:p>
        </p:txBody>
      </p:sp>
      <p:sp>
        <p:nvSpPr>
          <p:cNvPr id="40" name="Shape 34"/>
          <p:cNvSpPr/>
          <p:nvPr/>
        </p:nvSpPr>
        <p:spPr>
          <a:xfrm>
            <a:off x="7863840" y="3977640"/>
            <a:ext cx="2377440" cy="1691640"/>
          </a:xfrm>
          <a:prstGeom prst="roundRect">
            <a:avLst>
              <a:gd name="adj" fmla="val 4865"/>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41" name="Shape 35"/>
          <p:cNvSpPr/>
          <p:nvPr/>
        </p:nvSpPr>
        <p:spPr>
          <a:xfrm>
            <a:off x="7863840" y="3977640"/>
            <a:ext cx="2377440" cy="384048"/>
          </a:xfrm>
          <a:prstGeom prst="roundRect">
            <a:avLst>
              <a:gd name="adj" fmla="val 21429"/>
            </a:avLst>
          </a:prstGeom>
          <a:solidFill>
            <a:srgbClr val="17A398"/>
          </a:solidFill>
          <a:ln/>
        </p:spPr>
      </p:sp>
      <p:sp>
        <p:nvSpPr>
          <p:cNvPr id="42" name="Shape 36"/>
          <p:cNvSpPr/>
          <p:nvPr/>
        </p:nvSpPr>
        <p:spPr>
          <a:xfrm>
            <a:off x="7863840" y="4169664"/>
            <a:ext cx="2377440" cy="192024"/>
          </a:xfrm>
          <a:prstGeom prst="rect">
            <a:avLst/>
          </a:prstGeom>
          <a:solidFill>
            <a:srgbClr val="17A398"/>
          </a:solidFill>
          <a:ln/>
        </p:spPr>
      </p:sp>
      <p:pic>
        <p:nvPicPr>
          <p:cNvPr id="43" name="Image 4" descr="/home/claude/brickview/icons/database_w.png"/>
          <p:cNvPicPr>
            <a:picLocks noChangeAspect="1"/>
          </p:cNvPicPr>
          <p:nvPr/>
        </p:nvPicPr>
        <p:blipFill>
          <a:blip r:embed="rId3"/>
          <a:stretch>
            <a:fillRect/>
          </a:stretch>
        </p:blipFill>
        <p:spPr>
          <a:xfrm>
            <a:off x="7955280" y="4050792"/>
            <a:ext cx="237744" cy="237744"/>
          </a:xfrm>
          <a:prstGeom prst="rect">
            <a:avLst/>
          </a:prstGeom>
        </p:spPr>
      </p:pic>
      <p:sp>
        <p:nvSpPr>
          <p:cNvPr id="44" name="Text 37"/>
          <p:cNvSpPr/>
          <p:nvPr/>
        </p:nvSpPr>
        <p:spPr>
          <a:xfrm>
            <a:off x="8247888" y="3977640"/>
            <a:ext cx="1920240" cy="38404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Sales</a:t>
            </a:r>
            <a:endParaRPr lang="en-US" sz="1250" dirty="0"/>
          </a:p>
        </p:txBody>
      </p:sp>
      <p:sp>
        <p:nvSpPr>
          <p:cNvPr id="45" name="Text 38"/>
          <p:cNvSpPr/>
          <p:nvPr/>
        </p:nvSpPr>
        <p:spPr>
          <a:xfrm>
            <a:off x="8028432" y="4434840"/>
            <a:ext cx="2048256" cy="914400"/>
          </a:xfrm>
          <a:prstGeom prst="rect">
            <a:avLst/>
          </a:prstGeom>
          <a:noFill/>
          <a:ln/>
        </p:spPr>
        <p:txBody>
          <a:bodyPr wrap="square" rtlCol="0" anchor="ctr"/>
          <a:lstStyle/>
          <a:p>
            <a:r>
              <a:rPr lang="en-US" sz="950" dirty="0">
                <a:solidFill>
                  <a:srgbClr val="16263B"/>
                </a:solidFill>
                <a:latin typeface="Calibri" pitchFamily="34" charset="0"/>
                <a:ea typeface="Calibri" pitchFamily="34" charset="-122"/>
                <a:cs typeface="Calibri" pitchFamily="34" charset="-120"/>
              </a:rPr>
              <a:t>PK </a:t>
            </a:r>
            <a:r>
              <a:rPr lang="en-US" sz="950" dirty="0" err="1">
                <a:solidFill>
                  <a:srgbClr val="16263B"/>
                </a:solidFill>
                <a:latin typeface="Calibri" pitchFamily="34" charset="0"/>
                <a:ea typeface="Calibri" pitchFamily="34" charset="-122"/>
                <a:cs typeface="Calibri" pitchFamily="34" charset="-120"/>
              </a:rPr>
              <a:t>sale_id</a:t>
            </a:r>
            <a:r>
              <a:rPr lang="en-US" sz="950" dirty="0">
                <a:solidFill>
                  <a:srgbClr val="16263B"/>
                </a:solidFill>
                <a:latin typeface="Calibri" pitchFamily="34" charset="0"/>
                <a:ea typeface="Calibri" pitchFamily="34" charset="-122"/>
                <a:cs typeface="Calibri" pitchFamily="34" charset="-120"/>
              </a:rPr>
              <a:t>,</a:t>
            </a:r>
          </a:p>
          <a:p>
            <a:r>
              <a:rPr lang="en-US" sz="950" dirty="0">
                <a:solidFill>
                  <a:srgbClr val="16263B"/>
                </a:solidFill>
                <a:latin typeface="Calibri" pitchFamily="34" charset="0"/>
                <a:ea typeface="Calibri" pitchFamily="34" charset="-122"/>
                <a:cs typeface="Calibri" pitchFamily="34" charset="-120"/>
              </a:rPr>
              <a:t>FK </a:t>
            </a:r>
            <a:r>
              <a:rPr lang="en-US" sz="950" dirty="0" err="1">
                <a:solidFill>
                  <a:srgbClr val="16263B"/>
                </a:solidFill>
                <a:latin typeface="Calibri" pitchFamily="34" charset="0"/>
                <a:ea typeface="Calibri" pitchFamily="34" charset="-122"/>
                <a:cs typeface="Calibri" pitchFamily="34" charset="-120"/>
              </a:rPr>
              <a:t>listing_id</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sale_price</a:t>
            </a:r>
            <a:r>
              <a:rPr lang="en-US" sz="950" dirty="0">
                <a:solidFill>
                  <a:srgbClr val="16263B"/>
                </a:solidFill>
                <a:latin typeface="Calibri" pitchFamily="34" charset="0"/>
                <a:ea typeface="Calibri" pitchFamily="34" charset="-122"/>
                <a:cs typeface="Calibri" pitchFamily="34" charset="-120"/>
              </a:rPr>
              <a:t>,</a:t>
            </a:r>
          </a:p>
          <a:p>
            <a:r>
              <a:rPr lang="en-US" sz="950" dirty="0" err="1">
                <a:solidFill>
                  <a:srgbClr val="16263B"/>
                </a:solidFill>
                <a:latin typeface="Calibri" pitchFamily="34" charset="0"/>
                <a:ea typeface="Calibri" pitchFamily="34" charset="-122"/>
                <a:cs typeface="Calibri" pitchFamily="34" charset="-120"/>
              </a:rPr>
              <a:t>date_sold</a:t>
            </a:r>
            <a:r>
              <a:rPr lang="en-US" sz="950" dirty="0">
                <a:solidFill>
                  <a:srgbClr val="16263B"/>
                </a:solidFill>
                <a:latin typeface="Calibri" pitchFamily="34" charset="0"/>
                <a:ea typeface="Calibri" pitchFamily="34" charset="-122"/>
                <a:cs typeface="Calibri" pitchFamily="34" charset="-120"/>
              </a:rPr>
              <a:t>, </a:t>
            </a:r>
            <a:r>
              <a:rPr lang="en-US" sz="950" dirty="0" err="1">
                <a:solidFill>
                  <a:srgbClr val="16263B"/>
                </a:solidFill>
                <a:latin typeface="Calibri" pitchFamily="34" charset="0"/>
                <a:ea typeface="Calibri" pitchFamily="34" charset="-122"/>
                <a:cs typeface="Calibri" pitchFamily="34" charset="-120"/>
              </a:rPr>
              <a:t>days_on_market</a:t>
            </a:r>
            <a:endParaRPr lang="en-US" sz="950" dirty="0"/>
          </a:p>
        </p:txBody>
      </p:sp>
      <p:sp>
        <p:nvSpPr>
          <p:cNvPr id="61" name="Text 54"/>
          <p:cNvSpPr/>
          <p:nvPr/>
        </p:nvSpPr>
        <p:spPr>
          <a:xfrm>
            <a:off x="548640" y="6080760"/>
            <a:ext cx="10881360" cy="365760"/>
          </a:xfrm>
          <a:prstGeom prst="rect">
            <a:avLst/>
          </a:prstGeom>
          <a:noFill/>
          <a:ln/>
        </p:spPr>
        <p:txBody>
          <a:bodyPr wrap="square" rtlCol="0" anchor="ctr"/>
          <a:lstStyle/>
          <a:p>
            <a:pPr marL="0" indent="0" algn="ctr">
              <a:buNone/>
            </a:pPr>
            <a:r>
              <a:rPr lang="en-US" sz="1150" i="1" dirty="0">
                <a:solidFill>
                  <a:srgbClr val="0E5C8A"/>
                </a:solidFill>
                <a:latin typeface="Calibri" pitchFamily="34" charset="0"/>
                <a:ea typeface="Calibri" pitchFamily="34" charset="-122"/>
                <a:cs typeface="Calibri" pitchFamily="34" charset="-120"/>
              </a:rPr>
              <a:t>Listings is the central entity — linked to property details, the responsible agent, and completed sales.</a:t>
            </a:r>
            <a:endParaRPr lang="en-US" sz="1150" dirty="0"/>
          </a:p>
        </p:txBody>
      </p:sp>
      <p:sp>
        <p:nvSpPr>
          <p:cNvPr id="62" name="Text 5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Database Design</a:t>
            </a:r>
            <a:endParaRPr lang="en-US" sz="900" dirty="0"/>
          </a:p>
        </p:txBody>
      </p:sp>
      <p:sp>
        <p:nvSpPr>
          <p:cNvPr id="63" name="Text 5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
        <p:nvSpPr>
          <p:cNvPr id="64" name="Text 57"/>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INSIDE THE APP</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Application Features</a:t>
            </a:r>
            <a:endParaRPr lang="en-US" sz="3200" dirty="0"/>
          </a:p>
        </p:txBody>
      </p:sp>
      <p:sp>
        <p:nvSpPr>
          <p:cNvPr id="4" name="Shape 2"/>
          <p:cNvSpPr/>
          <p:nvPr/>
        </p:nvSpPr>
        <p:spPr>
          <a:xfrm>
            <a:off x="591954" y="2034540"/>
            <a:ext cx="1975104" cy="2788920"/>
          </a:xfrm>
          <a:prstGeom prst="roundRect">
            <a:avLst>
              <a:gd name="adj" fmla="val 4167"/>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5" name="Shape 3"/>
          <p:cNvSpPr/>
          <p:nvPr/>
        </p:nvSpPr>
        <p:spPr>
          <a:xfrm>
            <a:off x="1213746" y="2327148"/>
            <a:ext cx="731520" cy="731520"/>
          </a:xfrm>
          <a:prstGeom prst="ellipse">
            <a:avLst/>
          </a:prstGeom>
          <a:solidFill>
            <a:srgbClr val="0E5C8A"/>
          </a:solidFill>
          <a:ln/>
        </p:spPr>
      </p:sp>
      <p:pic>
        <p:nvPicPr>
          <p:cNvPr id="6" name="Image 0" descr="/home/claude/brickview/icons/home_w.png"/>
          <p:cNvPicPr>
            <a:picLocks noChangeAspect="1"/>
          </p:cNvPicPr>
          <p:nvPr/>
        </p:nvPicPr>
        <p:blipFill>
          <a:blip r:embed="rId3"/>
          <a:stretch>
            <a:fillRect/>
          </a:stretch>
        </p:blipFill>
        <p:spPr>
          <a:xfrm>
            <a:off x="1308844" y="2422246"/>
            <a:ext cx="541325" cy="541325"/>
          </a:xfrm>
          <a:prstGeom prst="rect">
            <a:avLst/>
          </a:prstGeom>
        </p:spPr>
      </p:pic>
      <p:sp>
        <p:nvSpPr>
          <p:cNvPr id="7" name="Text 4"/>
          <p:cNvSpPr/>
          <p:nvPr/>
        </p:nvSpPr>
        <p:spPr>
          <a:xfrm>
            <a:off x="683394" y="3204972"/>
            <a:ext cx="1792224" cy="59436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Home Dashboard</a:t>
            </a:r>
            <a:endParaRPr lang="en-US" sz="1300" dirty="0"/>
          </a:p>
        </p:txBody>
      </p:sp>
      <p:sp>
        <p:nvSpPr>
          <p:cNvPr id="8" name="Text 5"/>
          <p:cNvSpPr/>
          <p:nvPr/>
        </p:nvSpPr>
        <p:spPr>
          <a:xfrm>
            <a:off x="719970" y="3771900"/>
            <a:ext cx="1719072" cy="868680"/>
          </a:xfrm>
          <a:prstGeom prst="rect">
            <a:avLst/>
          </a:prstGeom>
          <a:noFill/>
          <a:ln/>
        </p:spPr>
        <p:txBody>
          <a:bodyPr wrap="square"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At-a-glance KPIs &amp; market overview</a:t>
            </a:r>
            <a:endParaRPr lang="en-US" sz="950" dirty="0"/>
          </a:p>
        </p:txBody>
      </p:sp>
      <p:sp>
        <p:nvSpPr>
          <p:cNvPr id="12" name="Shape 8"/>
          <p:cNvSpPr/>
          <p:nvPr/>
        </p:nvSpPr>
        <p:spPr>
          <a:xfrm>
            <a:off x="2740794" y="2034540"/>
            <a:ext cx="1975104" cy="2788920"/>
          </a:xfrm>
          <a:prstGeom prst="roundRect">
            <a:avLst>
              <a:gd name="adj" fmla="val 4167"/>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13" name="Shape 9"/>
          <p:cNvSpPr/>
          <p:nvPr/>
        </p:nvSpPr>
        <p:spPr>
          <a:xfrm>
            <a:off x="3362586" y="2327148"/>
            <a:ext cx="731520" cy="731520"/>
          </a:xfrm>
          <a:prstGeom prst="ellipse">
            <a:avLst/>
          </a:prstGeom>
          <a:solidFill>
            <a:srgbClr val="1C7293"/>
          </a:solidFill>
          <a:ln/>
        </p:spPr>
      </p:sp>
      <p:pic>
        <p:nvPicPr>
          <p:cNvPr id="14" name="Image 2" descr="/home/claude/brickview/icons/filter_w.png"/>
          <p:cNvPicPr>
            <a:picLocks noChangeAspect="1"/>
          </p:cNvPicPr>
          <p:nvPr/>
        </p:nvPicPr>
        <p:blipFill>
          <a:blip r:embed="rId4"/>
          <a:stretch>
            <a:fillRect/>
          </a:stretch>
        </p:blipFill>
        <p:spPr>
          <a:xfrm>
            <a:off x="3457684" y="2422246"/>
            <a:ext cx="541325" cy="541325"/>
          </a:xfrm>
          <a:prstGeom prst="rect">
            <a:avLst/>
          </a:prstGeom>
        </p:spPr>
      </p:pic>
      <p:sp>
        <p:nvSpPr>
          <p:cNvPr id="15" name="Text 10"/>
          <p:cNvSpPr/>
          <p:nvPr/>
        </p:nvSpPr>
        <p:spPr>
          <a:xfrm>
            <a:off x="2832234" y="3204972"/>
            <a:ext cx="1792224" cy="59436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Filters</a:t>
            </a:r>
            <a:endParaRPr lang="en-US" sz="1300" dirty="0"/>
          </a:p>
        </p:txBody>
      </p:sp>
      <p:sp>
        <p:nvSpPr>
          <p:cNvPr id="16" name="Text 11"/>
          <p:cNvSpPr/>
          <p:nvPr/>
        </p:nvSpPr>
        <p:spPr>
          <a:xfrm>
            <a:off x="2868810" y="3771900"/>
            <a:ext cx="1719072" cy="868680"/>
          </a:xfrm>
          <a:prstGeom prst="rect">
            <a:avLst/>
          </a:prstGeom>
          <a:noFill/>
          <a:ln/>
        </p:spPr>
        <p:txBody>
          <a:bodyPr wrap="square"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Search by city, price, type &amp; more</a:t>
            </a:r>
            <a:endParaRPr lang="en-US" sz="950" dirty="0"/>
          </a:p>
        </p:txBody>
      </p:sp>
      <p:sp>
        <p:nvSpPr>
          <p:cNvPr id="20" name="Shape 14"/>
          <p:cNvSpPr/>
          <p:nvPr/>
        </p:nvSpPr>
        <p:spPr>
          <a:xfrm>
            <a:off x="4889634" y="2034540"/>
            <a:ext cx="1975104" cy="2788920"/>
          </a:xfrm>
          <a:prstGeom prst="roundRect">
            <a:avLst>
              <a:gd name="adj" fmla="val 4167"/>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1" name="Shape 15"/>
          <p:cNvSpPr/>
          <p:nvPr/>
        </p:nvSpPr>
        <p:spPr>
          <a:xfrm>
            <a:off x="5511426" y="2327148"/>
            <a:ext cx="731520" cy="731520"/>
          </a:xfrm>
          <a:prstGeom prst="ellipse">
            <a:avLst/>
          </a:prstGeom>
          <a:solidFill>
            <a:srgbClr val="17A398"/>
          </a:solidFill>
          <a:ln/>
        </p:spPr>
      </p:sp>
      <p:pic>
        <p:nvPicPr>
          <p:cNvPr id="22" name="Image 4" descr="/home/claude/brickview/icons/barchart_w.png"/>
          <p:cNvPicPr>
            <a:picLocks noChangeAspect="1"/>
          </p:cNvPicPr>
          <p:nvPr/>
        </p:nvPicPr>
        <p:blipFill>
          <a:blip r:embed="rId5"/>
          <a:stretch>
            <a:fillRect/>
          </a:stretch>
        </p:blipFill>
        <p:spPr>
          <a:xfrm>
            <a:off x="5606524" y="2422246"/>
            <a:ext cx="541325" cy="541325"/>
          </a:xfrm>
          <a:prstGeom prst="rect">
            <a:avLst/>
          </a:prstGeom>
        </p:spPr>
      </p:pic>
      <p:sp>
        <p:nvSpPr>
          <p:cNvPr id="23" name="Text 16"/>
          <p:cNvSpPr/>
          <p:nvPr/>
        </p:nvSpPr>
        <p:spPr>
          <a:xfrm>
            <a:off x="4981074" y="3204972"/>
            <a:ext cx="1792224" cy="59436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Visualizations</a:t>
            </a:r>
            <a:endParaRPr lang="en-US" sz="1300" dirty="0"/>
          </a:p>
        </p:txBody>
      </p:sp>
      <p:sp>
        <p:nvSpPr>
          <p:cNvPr id="24" name="Text 17"/>
          <p:cNvSpPr/>
          <p:nvPr/>
        </p:nvSpPr>
        <p:spPr>
          <a:xfrm>
            <a:off x="5017650" y="3771900"/>
            <a:ext cx="1719072" cy="868680"/>
          </a:xfrm>
          <a:prstGeom prst="rect">
            <a:avLst/>
          </a:prstGeom>
          <a:noFill/>
          <a:ln/>
        </p:spPr>
        <p:txBody>
          <a:bodyPr wrap="square"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Interactive Plotly charts &amp; trends</a:t>
            </a:r>
            <a:endParaRPr lang="en-US" sz="950" dirty="0"/>
          </a:p>
        </p:txBody>
      </p:sp>
      <p:sp>
        <p:nvSpPr>
          <p:cNvPr id="28" name="Shape 20"/>
          <p:cNvSpPr/>
          <p:nvPr/>
        </p:nvSpPr>
        <p:spPr>
          <a:xfrm>
            <a:off x="7038474" y="2034540"/>
            <a:ext cx="1975104" cy="2788920"/>
          </a:xfrm>
          <a:prstGeom prst="roundRect">
            <a:avLst>
              <a:gd name="adj" fmla="val 4167"/>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29" name="Shape 21"/>
          <p:cNvSpPr/>
          <p:nvPr/>
        </p:nvSpPr>
        <p:spPr>
          <a:xfrm>
            <a:off x="7660266" y="2327148"/>
            <a:ext cx="731520" cy="731520"/>
          </a:xfrm>
          <a:prstGeom prst="ellipse">
            <a:avLst/>
          </a:prstGeom>
          <a:solidFill>
            <a:srgbClr val="3F8FC4"/>
          </a:solidFill>
          <a:ln/>
        </p:spPr>
      </p:sp>
      <p:pic>
        <p:nvPicPr>
          <p:cNvPr id="30" name="Image 6" descr="/home/claude/brickview/icons/edit_w.png"/>
          <p:cNvPicPr>
            <a:picLocks noChangeAspect="1"/>
          </p:cNvPicPr>
          <p:nvPr/>
        </p:nvPicPr>
        <p:blipFill>
          <a:blip r:embed="rId6"/>
          <a:stretch>
            <a:fillRect/>
          </a:stretch>
        </p:blipFill>
        <p:spPr>
          <a:xfrm>
            <a:off x="7755364" y="2422246"/>
            <a:ext cx="541325" cy="541325"/>
          </a:xfrm>
          <a:prstGeom prst="rect">
            <a:avLst/>
          </a:prstGeom>
        </p:spPr>
      </p:pic>
      <p:sp>
        <p:nvSpPr>
          <p:cNvPr id="31" name="Text 22"/>
          <p:cNvSpPr/>
          <p:nvPr/>
        </p:nvSpPr>
        <p:spPr>
          <a:xfrm>
            <a:off x="7086600" y="3204972"/>
            <a:ext cx="1792224" cy="59436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CRUD Operations</a:t>
            </a:r>
            <a:endParaRPr lang="en-US" sz="1300" dirty="0"/>
          </a:p>
        </p:txBody>
      </p:sp>
      <p:sp>
        <p:nvSpPr>
          <p:cNvPr id="32" name="Text 23"/>
          <p:cNvSpPr/>
          <p:nvPr/>
        </p:nvSpPr>
        <p:spPr>
          <a:xfrm>
            <a:off x="7123176" y="3771900"/>
            <a:ext cx="1719072" cy="868680"/>
          </a:xfrm>
          <a:prstGeom prst="rect">
            <a:avLst/>
          </a:prstGeom>
          <a:noFill/>
          <a:ln/>
        </p:spPr>
        <p:txBody>
          <a:bodyPr wrap="square"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Add, update &amp; remove property records</a:t>
            </a:r>
            <a:endParaRPr lang="en-US" sz="950" dirty="0"/>
          </a:p>
        </p:txBody>
      </p:sp>
      <p:sp>
        <p:nvSpPr>
          <p:cNvPr id="36" name="Shape 26"/>
          <p:cNvSpPr/>
          <p:nvPr/>
        </p:nvSpPr>
        <p:spPr>
          <a:xfrm>
            <a:off x="9144000" y="2034540"/>
            <a:ext cx="1975104" cy="2788920"/>
          </a:xfrm>
          <a:prstGeom prst="roundRect">
            <a:avLst>
              <a:gd name="adj" fmla="val 4167"/>
            </a:avLst>
          </a:prstGeom>
          <a:solidFill>
            <a:srgbClr val="FFFFFF"/>
          </a:solidFill>
          <a:ln w="12700">
            <a:solidFill>
              <a:srgbClr val="D8E4EE"/>
            </a:solidFill>
            <a:prstDash val="solid"/>
          </a:ln>
          <a:effectLst>
            <a:outerShdw blurRad="101600" dist="38100" dir="5400000" algn="bl" rotWithShape="0">
              <a:srgbClr val="1B2A3D">
                <a:alpha val="12000"/>
              </a:srgbClr>
            </a:outerShdw>
          </a:effectLst>
        </p:spPr>
      </p:sp>
      <p:sp>
        <p:nvSpPr>
          <p:cNvPr id="37" name="Shape 27"/>
          <p:cNvSpPr/>
          <p:nvPr/>
        </p:nvSpPr>
        <p:spPr>
          <a:xfrm>
            <a:off x="9765792" y="2327148"/>
            <a:ext cx="731520" cy="731520"/>
          </a:xfrm>
          <a:prstGeom prst="ellipse">
            <a:avLst/>
          </a:prstGeom>
          <a:solidFill>
            <a:srgbClr val="0B2A4A"/>
          </a:solidFill>
          <a:ln/>
        </p:spPr>
      </p:sp>
      <p:pic>
        <p:nvPicPr>
          <p:cNvPr id="38" name="Image 8" descr="/home/claude/brickview/icons/code_w.png"/>
          <p:cNvPicPr>
            <a:picLocks noChangeAspect="1"/>
          </p:cNvPicPr>
          <p:nvPr/>
        </p:nvPicPr>
        <p:blipFill>
          <a:blip r:embed="rId7"/>
          <a:stretch>
            <a:fillRect/>
          </a:stretch>
        </p:blipFill>
        <p:spPr>
          <a:xfrm>
            <a:off x="9860890" y="2422246"/>
            <a:ext cx="541325" cy="541325"/>
          </a:xfrm>
          <a:prstGeom prst="rect">
            <a:avLst/>
          </a:prstGeom>
        </p:spPr>
      </p:pic>
      <p:sp>
        <p:nvSpPr>
          <p:cNvPr id="39" name="Text 28"/>
          <p:cNvSpPr/>
          <p:nvPr/>
        </p:nvSpPr>
        <p:spPr>
          <a:xfrm>
            <a:off x="9235440" y="3204972"/>
            <a:ext cx="1792224" cy="594360"/>
          </a:xfrm>
          <a:prstGeom prst="rect">
            <a:avLst/>
          </a:prstGeom>
          <a:noFill/>
          <a:ln/>
        </p:spPr>
        <p:txBody>
          <a:bodyPr wrap="square" rtlCol="0" anchor="ctr"/>
          <a:lstStyle/>
          <a:p>
            <a:pPr marL="0" indent="0" algn="ctr">
              <a:buNone/>
            </a:pPr>
            <a:r>
              <a:rPr lang="en-US" sz="1300" b="1" dirty="0">
                <a:solidFill>
                  <a:srgbClr val="0B2A4A"/>
                </a:solidFill>
                <a:latin typeface="Cambria" pitchFamily="34" charset="0"/>
                <a:ea typeface="Cambria" pitchFamily="34" charset="-122"/>
                <a:cs typeface="Cambria" pitchFamily="34" charset="-120"/>
              </a:rPr>
              <a:t>SQL Queries</a:t>
            </a:r>
            <a:endParaRPr lang="en-US" sz="1300" dirty="0"/>
          </a:p>
        </p:txBody>
      </p:sp>
      <p:sp>
        <p:nvSpPr>
          <p:cNvPr id="40" name="Text 29"/>
          <p:cNvSpPr/>
          <p:nvPr/>
        </p:nvSpPr>
        <p:spPr>
          <a:xfrm>
            <a:off x="9272016" y="3771900"/>
            <a:ext cx="1719072" cy="868680"/>
          </a:xfrm>
          <a:prstGeom prst="rect">
            <a:avLst/>
          </a:prstGeom>
          <a:noFill/>
          <a:ln/>
        </p:spPr>
        <p:txBody>
          <a:bodyPr wrap="square" rtlCol="0" anchor="ctr"/>
          <a:lstStyle/>
          <a:p>
            <a:pPr marL="0" indent="0" algn="ctr">
              <a:buNone/>
            </a:pPr>
            <a:r>
              <a:rPr lang="en-US" sz="950" dirty="0">
                <a:solidFill>
                  <a:srgbClr val="5B6B7C"/>
                </a:solidFill>
                <a:latin typeface="Calibri" pitchFamily="34" charset="0"/>
                <a:ea typeface="Calibri" pitchFamily="34" charset="-122"/>
                <a:cs typeface="Calibri" pitchFamily="34" charset="-120"/>
              </a:rPr>
              <a:t>Run live queries directly on MySQL</a:t>
            </a:r>
            <a:endParaRPr lang="en-US" sz="950" dirty="0"/>
          </a:p>
        </p:txBody>
      </p:sp>
      <p:sp>
        <p:nvSpPr>
          <p:cNvPr id="44" name="Text 3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Application Features</a:t>
            </a:r>
            <a:endParaRPr lang="en-US" sz="900" dirty="0"/>
          </a:p>
        </p:txBody>
      </p:sp>
      <p:sp>
        <p:nvSpPr>
          <p:cNvPr id="45" name="Text 3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
        <p:nvSpPr>
          <p:cNvPr id="46" name="Text 34"/>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SAMPLE ANALYTICS</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Data Visualizations</a:t>
            </a:r>
            <a:endParaRPr lang="en-US" sz="3200" dirty="0"/>
          </a:p>
        </p:txBody>
      </p:sp>
      <p:graphicFrame>
        <p:nvGraphicFramePr>
          <p:cNvPr id="5" name="Chart 1"/>
          <p:cNvGraphicFramePr/>
          <p:nvPr>
            <p:extLst>
              <p:ext uri="{D42A27DB-BD31-4B8C-83A1-F6EECF244321}">
                <p14:modId xmlns:p14="http://schemas.microsoft.com/office/powerpoint/2010/main" val="2705376420"/>
              </p:ext>
            </p:extLst>
          </p:nvPr>
        </p:nvGraphicFramePr>
        <p:xfrm>
          <a:off x="6035040" y="1508760"/>
          <a:ext cx="53949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Data Visualizations &amp; Insights</a:t>
            </a:r>
            <a:endParaRPr lang="en-US" sz="900" dirty="0"/>
          </a:p>
        </p:txBody>
      </p:sp>
      <p:sp>
        <p:nvSpPr>
          <p:cNvPr id="9" name="Text 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
        <p:nvSpPr>
          <p:cNvPr id="10" name="Text 4"/>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pic>
        <p:nvPicPr>
          <p:cNvPr id="12" name="Picture 11">
            <a:extLst>
              <a:ext uri="{FF2B5EF4-FFF2-40B4-BE49-F238E27FC236}">
                <a16:creationId xmlns:a16="http://schemas.microsoft.com/office/drawing/2014/main" id="{A700B703-9B74-80C4-082D-D20630FDC5BE}"/>
              </a:ext>
            </a:extLst>
          </p:cNvPr>
          <p:cNvPicPr>
            <a:picLocks noChangeAspect="1"/>
          </p:cNvPicPr>
          <p:nvPr/>
        </p:nvPicPr>
        <p:blipFill>
          <a:blip r:embed="rId4"/>
          <a:srcRect t="15643" r="-1829"/>
          <a:stretch>
            <a:fillRect/>
          </a:stretch>
        </p:blipFill>
        <p:spPr>
          <a:xfrm>
            <a:off x="759187" y="1293154"/>
            <a:ext cx="10767066" cy="50755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THE JOURNEY</a:t>
            </a:r>
            <a:endParaRPr lang="en-US" sz="1250" dirty="0"/>
          </a:p>
        </p:txBody>
      </p:sp>
      <p:sp>
        <p:nvSpPr>
          <p:cNvPr id="3" name="Text 1"/>
          <p:cNvSpPr/>
          <p:nvPr/>
        </p:nvSpPr>
        <p:spPr>
          <a:xfrm>
            <a:off x="548640" y="603504"/>
            <a:ext cx="10607040" cy="658368"/>
          </a:xfrm>
          <a:prstGeom prst="rect">
            <a:avLst/>
          </a:prstGeom>
          <a:noFill/>
          <a:ln/>
        </p:spPr>
        <p:txBody>
          <a:bodyPr wrap="square" rtlCol="0" anchor="ctr"/>
          <a:lstStyle/>
          <a:p>
            <a:pPr marL="0" indent="0">
              <a:buNone/>
            </a:pPr>
            <a:r>
              <a:rPr lang="en-US" sz="3200" b="1" dirty="0">
                <a:solidFill>
                  <a:srgbClr val="0B2A4A"/>
                </a:solidFill>
                <a:latin typeface="Cambria" pitchFamily="34" charset="0"/>
                <a:ea typeface="Cambria" pitchFamily="34" charset="-122"/>
                <a:cs typeface="Cambria" pitchFamily="34" charset="-120"/>
              </a:rPr>
              <a:t>Challenges &amp; Learning Outcomes</a:t>
            </a:r>
            <a:endParaRPr lang="en-US" sz="3200" dirty="0"/>
          </a:p>
        </p:txBody>
      </p:sp>
      <p:sp>
        <p:nvSpPr>
          <p:cNvPr id="4" name="Text 2"/>
          <p:cNvSpPr/>
          <p:nvPr/>
        </p:nvSpPr>
        <p:spPr>
          <a:xfrm>
            <a:off x="548640" y="1417320"/>
            <a:ext cx="5120640" cy="320040"/>
          </a:xfrm>
          <a:prstGeom prst="rect">
            <a:avLst/>
          </a:prstGeom>
          <a:noFill/>
          <a:ln/>
        </p:spPr>
        <p:txBody>
          <a:bodyPr wrap="square" rtlCol="0" anchor="ctr"/>
          <a:lstStyle/>
          <a:p>
            <a:pPr marL="0" indent="0">
              <a:buNone/>
            </a:pPr>
            <a:r>
              <a:rPr lang="en-US" sz="1300" b="1" kern="0" spc="100" dirty="0">
                <a:solidFill>
                  <a:srgbClr val="0E5C8A"/>
                </a:solidFill>
                <a:latin typeface="Calibri" pitchFamily="34" charset="0"/>
                <a:ea typeface="Calibri" pitchFamily="34" charset="-122"/>
                <a:cs typeface="Calibri" pitchFamily="34" charset="-120"/>
              </a:rPr>
              <a:t>CHALLENGES</a:t>
            </a:r>
            <a:endParaRPr lang="en-US" sz="1300" dirty="0"/>
          </a:p>
        </p:txBody>
      </p:sp>
      <p:sp>
        <p:nvSpPr>
          <p:cNvPr id="5" name="Shape 3"/>
          <p:cNvSpPr/>
          <p:nvPr/>
        </p:nvSpPr>
        <p:spPr>
          <a:xfrm>
            <a:off x="868680" y="2103120"/>
            <a:ext cx="0" cy="2999232"/>
          </a:xfrm>
          <a:prstGeom prst="line">
            <a:avLst/>
          </a:prstGeom>
          <a:noFill/>
          <a:ln w="25400">
            <a:solidFill>
              <a:srgbClr val="D8E4EE"/>
            </a:solidFill>
            <a:prstDash val="solid"/>
          </a:ln>
        </p:spPr>
      </p:sp>
      <p:sp>
        <p:nvSpPr>
          <p:cNvPr id="6" name="Shape 4"/>
          <p:cNvSpPr/>
          <p:nvPr/>
        </p:nvSpPr>
        <p:spPr>
          <a:xfrm>
            <a:off x="649224" y="1920240"/>
            <a:ext cx="438912" cy="438912"/>
          </a:xfrm>
          <a:prstGeom prst="ellipse">
            <a:avLst/>
          </a:prstGeom>
          <a:solidFill>
            <a:srgbClr val="0E5C8A"/>
          </a:solidFill>
          <a:ln w="25400">
            <a:solidFill>
              <a:srgbClr val="FFFFFF"/>
            </a:solidFill>
            <a:prstDash val="solid"/>
          </a:ln>
        </p:spPr>
      </p:sp>
      <p:pic>
        <p:nvPicPr>
          <p:cNvPr id="7" name="Image 0" descr="/home/claude/brickview/icons/database_w.png"/>
          <p:cNvPicPr>
            <a:picLocks noChangeAspect="1"/>
          </p:cNvPicPr>
          <p:nvPr/>
        </p:nvPicPr>
        <p:blipFill>
          <a:blip r:embed="rId3"/>
          <a:stretch>
            <a:fillRect/>
          </a:stretch>
        </p:blipFill>
        <p:spPr>
          <a:xfrm>
            <a:off x="731520" y="2002536"/>
            <a:ext cx="274320" cy="274320"/>
          </a:xfrm>
          <a:prstGeom prst="rect">
            <a:avLst/>
          </a:prstGeom>
        </p:spPr>
      </p:pic>
      <p:sp>
        <p:nvSpPr>
          <p:cNvPr id="8" name="Text 5"/>
          <p:cNvSpPr/>
          <p:nvPr/>
        </p:nvSpPr>
        <p:spPr>
          <a:xfrm>
            <a:off x="1252728" y="1847088"/>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Database integration across app &amp; MySQL</a:t>
            </a:r>
            <a:endParaRPr lang="en-US" sz="1100" dirty="0"/>
          </a:p>
        </p:txBody>
      </p:sp>
      <p:sp>
        <p:nvSpPr>
          <p:cNvPr id="9" name="Shape 6"/>
          <p:cNvSpPr/>
          <p:nvPr/>
        </p:nvSpPr>
        <p:spPr>
          <a:xfrm>
            <a:off x="649224" y="2670048"/>
            <a:ext cx="438912" cy="438912"/>
          </a:xfrm>
          <a:prstGeom prst="ellipse">
            <a:avLst/>
          </a:prstGeom>
          <a:solidFill>
            <a:srgbClr val="0E5C8A"/>
          </a:solidFill>
          <a:ln w="25400">
            <a:solidFill>
              <a:srgbClr val="FFFFFF"/>
            </a:solidFill>
            <a:prstDash val="solid"/>
          </a:ln>
        </p:spPr>
      </p:sp>
      <p:pic>
        <p:nvPicPr>
          <p:cNvPr id="10" name="Image 1" descr="/home/claude/brickview/icons/gitBranch_w.png"/>
          <p:cNvPicPr>
            <a:picLocks noChangeAspect="1"/>
          </p:cNvPicPr>
          <p:nvPr/>
        </p:nvPicPr>
        <p:blipFill>
          <a:blip r:embed="rId4"/>
          <a:stretch>
            <a:fillRect/>
          </a:stretch>
        </p:blipFill>
        <p:spPr>
          <a:xfrm>
            <a:off x="731520" y="2752344"/>
            <a:ext cx="274320" cy="274320"/>
          </a:xfrm>
          <a:prstGeom prst="rect">
            <a:avLst/>
          </a:prstGeom>
        </p:spPr>
      </p:pic>
      <p:sp>
        <p:nvSpPr>
          <p:cNvPr id="11" name="Text 7"/>
          <p:cNvSpPr/>
          <p:nvPr/>
        </p:nvSpPr>
        <p:spPr>
          <a:xfrm>
            <a:off x="1252728" y="2596896"/>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Writing correct multi-table SQL joins</a:t>
            </a:r>
            <a:endParaRPr lang="en-US" sz="1100" dirty="0"/>
          </a:p>
        </p:txBody>
      </p:sp>
      <p:sp>
        <p:nvSpPr>
          <p:cNvPr id="12" name="Shape 8"/>
          <p:cNvSpPr/>
          <p:nvPr/>
        </p:nvSpPr>
        <p:spPr>
          <a:xfrm>
            <a:off x="649224" y="3419856"/>
            <a:ext cx="438912" cy="438912"/>
          </a:xfrm>
          <a:prstGeom prst="ellipse">
            <a:avLst/>
          </a:prstGeom>
          <a:solidFill>
            <a:srgbClr val="0E5C8A"/>
          </a:solidFill>
          <a:ln w="25400">
            <a:solidFill>
              <a:srgbClr val="FFFFFF"/>
            </a:solidFill>
            <a:prstDash val="solid"/>
          </a:ln>
        </p:spPr>
      </p:sp>
      <p:pic>
        <p:nvPicPr>
          <p:cNvPr id="13" name="Image 2" descr="/home/claude/brickview/icons/edit_w.png"/>
          <p:cNvPicPr>
            <a:picLocks noChangeAspect="1"/>
          </p:cNvPicPr>
          <p:nvPr/>
        </p:nvPicPr>
        <p:blipFill>
          <a:blip r:embed="rId5"/>
          <a:stretch>
            <a:fillRect/>
          </a:stretch>
        </p:blipFill>
        <p:spPr>
          <a:xfrm>
            <a:off x="731520" y="3502152"/>
            <a:ext cx="274320" cy="274320"/>
          </a:xfrm>
          <a:prstGeom prst="rect">
            <a:avLst/>
          </a:prstGeom>
        </p:spPr>
      </p:pic>
      <p:sp>
        <p:nvSpPr>
          <p:cNvPr id="14" name="Text 9"/>
          <p:cNvSpPr/>
          <p:nvPr/>
        </p:nvSpPr>
        <p:spPr>
          <a:xfrm>
            <a:off x="1252728" y="3346704"/>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Implementing reliable CRUD operations</a:t>
            </a:r>
            <a:endParaRPr lang="en-US" sz="1100" dirty="0"/>
          </a:p>
        </p:txBody>
      </p:sp>
      <p:sp>
        <p:nvSpPr>
          <p:cNvPr id="15" name="Shape 10"/>
          <p:cNvSpPr/>
          <p:nvPr/>
        </p:nvSpPr>
        <p:spPr>
          <a:xfrm>
            <a:off x="649224" y="4169664"/>
            <a:ext cx="438912" cy="438912"/>
          </a:xfrm>
          <a:prstGeom prst="ellipse">
            <a:avLst/>
          </a:prstGeom>
          <a:solidFill>
            <a:srgbClr val="0E5C8A"/>
          </a:solidFill>
          <a:ln w="25400">
            <a:solidFill>
              <a:srgbClr val="FFFFFF"/>
            </a:solidFill>
            <a:prstDash val="solid"/>
          </a:ln>
        </p:spPr>
      </p:sp>
      <p:pic>
        <p:nvPicPr>
          <p:cNvPr id="16" name="Image 3" descr="/home/claude/brickview/icons/layout_w.png"/>
          <p:cNvPicPr>
            <a:picLocks noChangeAspect="1"/>
          </p:cNvPicPr>
          <p:nvPr/>
        </p:nvPicPr>
        <p:blipFill>
          <a:blip r:embed="rId6"/>
          <a:stretch>
            <a:fillRect/>
          </a:stretch>
        </p:blipFill>
        <p:spPr>
          <a:xfrm>
            <a:off x="731520" y="4251960"/>
            <a:ext cx="274320" cy="274320"/>
          </a:xfrm>
          <a:prstGeom prst="rect">
            <a:avLst/>
          </a:prstGeom>
        </p:spPr>
      </p:pic>
      <p:sp>
        <p:nvSpPr>
          <p:cNvPr id="17" name="Text 11"/>
          <p:cNvSpPr/>
          <p:nvPr/>
        </p:nvSpPr>
        <p:spPr>
          <a:xfrm>
            <a:off x="1252728" y="4096512"/>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Structuring smooth Streamlit navigation</a:t>
            </a:r>
            <a:endParaRPr lang="en-US" sz="1100" dirty="0"/>
          </a:p>
        </p:txBody>
      </p:sp>
      <p:sp>
        <p:nvSpPr>
          <p:cNvPr id="18" name="Shape 12"/>
          <p:cNvSpPr/>
          <p:nvPr/>
        </p:nvSpPr>
        <p:spPr>
          <a:xfrm>
            <a:off x="649224" y="4919472"/>
            <a:ext cx="438912" cy="438912"/>
          </a:xfrm>
          <a:prstGeom prst="ellipse">
            <a:avLst/>
          </a:prstGeom>
          <a:solidFill>
            <a:srgbClr val="0E5C8A"/>
          </a:solidFill>
          <a:ln w="25400">
            <a:solidFill>
              <a:srgbClr val="FFFFFF"/>
            </a:solidFill>
            <a:prstDash val="solid"/>
          </a:ln>
        </p:spPr>
      </p:sp>
      <p:pic>
        <p:nvPicPr>
          <p:cNvPr id="19" name="Image 4" descr="/home/claude/brickview/icons/barchart_w.png"/>
          <p:cNvPicPr>
            <a:picLocks noChangeAspect="1"/>
          </p:cNvPicPr>
          <p:nvPr/>
        </p:nvPicPr>
        <p:blipFill>
          <a:blip r:embed="rId7"/>
          <a:stretch>
            <a:fillRect/>
          </a:stretch>
        </p:blipFill>
        <p:spPr>
          <a:xfrm>
            <a:off x="731520" y="5001768"/>
            <a:ext cx="274320" cy="274320"/>
          </a:xfrm>
          <a:prstGeom prst="rect">
            <a:avLst/>
          </a:prstGeom>
        </p:spPr>
      </p:pic>
      <p:sp>
        <p:nvSpPr>
          <p:cNvPr id="20" name="Text 13"/>
          <p:cNvSpPr/>
          <p:nvPr/>
        </p:nvSpPr>
        <p:spPr>
          <a:xfrm>
            <a:off x="1252728" y="4846320"/>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Designing clear, meaningful visualizations</a:t>
            </a:r>
            <a:endParaRPr lang="en-US" sz="1100" dirty="0"/>
          </a:p>
        </p:txBody>
      </p:sp>
      <p:sp>
        <p:nvSpPr>
          <p:cNvPr id="21" name="Text 14"/>
          <p:cNvSpPr/>
          <p:nvPr/>
        </p:nvSpPr>
        <p:spPr>
          <a:xfrm>
            <a:off x="6355080" y="1417320"/>
            <a:ext cx="5303520" cy="320040"/>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LEARNING OUTCOMES</a:t>
            </a:r>
            <a:endParaRPr lang="en-US" sz="1300" dirty="0"/>
          </a:p>
        </p:txBody>
      </p:sp>
      <p:sp>
        <p:nvSpPr>
          <p:cNvPr id="22" name="Shape 15"/>
          <p:cNvSpPr/>
          <p:nvPr/>
        </p:nvSpPr>
        <p:spPr>
          <a:xfrm>
            <a:off x="6675120" y="2103120"/>
            <a:ext cx="0" cy="2999232"/>
          </a:xfrm>
          <a:prstGeom prst="line">
            <a:avLst/>
          </a:prstGeom>
          <a:noFill/>
          <a:ln w="25400">
            <a:solidFill>
              <a:srgbClr val="D8E4EE"/>
            </a:solidFill>
            <a:prstDash val="solid"/>
          </a:ln>
        </p:spPr>
      </p:sp>
      <p:sp>
        <p:nvSpPr>
          <p:cNvPr id="23" name="Shape 16"/>
          <p:cNvSpPr/>
          <p:nvPr/>
        </p:nvSpPr>
        <p:spPr>
          <a:xfrm>
            <a:off x="6455664" y="1920240"/>
            <a:ext cx="438912" cy="438912"/>
          </a:xfrm>
          <a:prstGeom prst="ellipse">
            <a:avLst/>
          </a:prstGeom>
          <a:solidFill>
            <a:srgbClr val="1C7293"/>
          </a:solidFill>
          <a:ln w="25400">
            <a:solidFill>
              <a:srgbClr val="FFFFFF"/>
            </a:solidFill>
            <a:prstDash val="solid"/>
          </a:ln>
        </p:spPr>
      </p:sp>
      <p:pic>
        <p:nvPicPr>
          <p:cNvPr id="24" name="Image 5" descr="/home/claude/brickview/icons/code_w.png"/>
          <p:cNvPicPr>
            <a:picLocks noChangeAspect="1"/>
          </p:cNvPicPr>
          <p:nvPr/>
        </p:nvPicPr>
        <p:blipFill>
          <a:blip r:embed="rId8"/>
          <a:stretch>
            <a:fillRect/>
          </a:stretch>
        </p:blipFill>
        <p:spPr>
          <a:xfrm>
            <a:off x="6537960" y="2002536"/>
            <a:ext cx="274320" cy="274320"/>
          </a:xfrm>
          <a:prstGeom prst="rect">
            <a:avLst/>
          </a:prstGeom>
        </p:spPr>
      </p:pic>
      <p:sp>
        <p:nvSpPr>
          <p:cNvPr id="25" name="Text 17"/>
          <p:cNvSpPr/>
          <p:nvPr/>
        </p:nvSpPr>
        <p:spPr>
          <a:xfrm>
            <a:off x="7059168" y="1847088"/>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Stronger Python programming fluency</a:t>
            </a:r>
            <a:endParaRPr lang="en-US" sz="1100" dirty="0"/>
          </a:p>
        </p:txBody>
      </p:sp>
      <p:sp>
        <p:nvSpPr>
          <p:cNvPr id="26" name="Shape 18"/>
          <p:cNvSpPr/>
          <p:nvPr/>
        </p:nvSpPr>
        <p:spPr>
          <a:xfrm>
            <a:off x="6455664" y="2670048"/>
            <a:ext cx="438912" cy="438912"/>
          </a:xfrm>
          <a:prstGeom prst="ellipse">
            <a:avLst/>
          </a:prstGeom>
          <a:solidFill>
            <a:srgbClr val="1C7293"/>
          </a:solidFill>
          <a:ln w="25400">
            <a:solidFill>
              <a:srgbClr val="FFFFFF"/>
            </a:solidFill>
            <a:prstDash val="solid"/>
          </a:ln>
        </p:spPr>
      </p:sp>
      <p:pic>
        <p:nvPicPr>
          <p:cNvPr id="27" name="Image 6" descr="/home/claude/brickview/icons/database_w.png"/>
          <p:cNvPicPr>
            <a:picLocks noChangeAspect="1"/>
          </p:cNvPicPr>
          <p:nvPr/>
        </p:nvPicPr>
        <p:blipFill>
          <a:blip r:embed="rId3"/>
          <a:stretch>
            <a:fillRect/>
          </a:stretch>
        </p:blipFill>
        <p:spPr>
          <a:xfrm>
            <a:off x="6537960" y="2752344"/>
            <a:ext cx="274320" cy="274320"/>
          </a:xfrm>
          <a:prstGeom prst="rect">
            <a:avLst/>
          </a:prstGeom>
        </p:spPr>
      </p:pic>
      <p:sp>
        <p:nvSpPr>
          <p:cNvPr id="28" name="Text 19"/>
          <p:cNvSpPr/>
          <p:nvPr/>
        </p:nvSpPr>
        <p:spPr>
          <a:xfrm>
            <a:off x="7059168" y="2596896"/>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Practical SQL query writing skills</a:t>
            </a:r>
            <a:endParaRPr lang="en-US" sz="1100" dirty="0"/>
          </a:p>
        </p:txBody>
      </p:sp>
      <p:sp>
        <p:nvSpPr>
          <p:cNvPr id="29" name="Shape 20"/>
          <p:cNvSpPr/>
          <p:nvPr/>
        </p:nvSpPr>
        <p:spPr>
          <a:xfrm>
            <a:off x="6455664" y="3419856"/>
            <a:ext cx="438912" cy="438912"/>
          </a:xfrm>
          <a:prstGeom prst="ellipse">
            <a:avLst/>
          </a:prstGeom>
          <a:solidFill>
            <a:srgbClr val="1C7293"/>
          </a:solidFill>
          <a:ln w="25400">
            <a:solidFill>
              <a:srgbClr val="FFFFFF"/>
            </a:solidFill>
            <a:prstDash val="solid"/>
          </a:ln>
        </p:spPr>
      </p:sp>
      <p:pic>
        <p:nvPicPr>
          <p:cNvPr id="30" name="Image 7" descr="/home/claude/brickview/icons/server_w.png"/>
          <p:cNvPicPr>
            <a:picLocks noChangeAspect="1"/>
          </p:cNvPicPr>
          <p:nvPr/>
        </p:nvPicPr>
        <p:blipFill>
          <a:blip r:embed="rId9"/>
          <a:stretch>
            <a:fillRect/>
          </a:stretch>
        </p:blipFill>
        <p:spPr>
          <a:xfrm>
            <a:off x="6537960" y="3502152"/>
            <a:ext cx="274320" cy="274320"/>
          </a:xfrm>
          <a:prstGeom prst="rect">
            <a:avLst/>
          </a:prstGeom>
        </p:spPr>
      </p:pic>
      <p:sp>
        <p:nvSpPr>
          <p:cNvPr id="31" name="Text 21"/>
          <p:cNvSpPr/>
          <p:nvPr/>
        </p:nvSpPr>
        <p:spPr>
          <a:xfrm>
            <a:off x="7059168" y="3346704"/>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Relational database management</a:t>
            </a:r>
            <a:endParaRPr lang="en-US" sz="1100" dirty="0"/>
          </a:p>
        </p:txBody>
      </p:sp>
      <p:sp>
        <p:nvSpPr>
          <p:cNvPr id="32" name="Shape 22"/>
          <p:cNvSpPr/>
          <p:nvPr/>
        </p:nvSpPr>
        <p:spPr>
          <a:xfrm>
            <a:off x="6455664" y="4169664"/>
            <a:ext cx="438912" cy="438912"/>
          </a:xfrm>
          <a:prstGeom prst="ellipse">
            <a:avLst/>
          </a:prstGeom>
          <a:solidFill>
            <a:srgbClr val="1C7293"/>
          </a:solidFill>
          <a:ln w="25400">
            <a:solidFill>
              <a:srgbClr val="FFFFFF"/>
            </a:solidFill>
            <a:prstDash val="solid"/>
          </a:ln>
        </p:spPr>
      </p:sp>
      <p:pic>
        <p:nvPicPr>
          <p:cNvPr id="33" name="Image 8" descr="/home/claude/brickview/icons/monitor_w.png"/>
          <p:cNvPicPr>
            <a:picLocks noChangeAspect="1"/>
          </p:cNvPicPr>
          <p:nvPr/>
        </p:nvPicPr>
        <p:blipFill>
          <a:blip r:embed="rId10"/>
          <a:stretch>
            <a:fillRect/>
          </a:stretch>
        </p:blipFill>
        <p:spPr>
          <a:xfrm>
            <a:off x="6537960" y="4251960"/>
            <a:ext cx="274320" cy="274320"/>
          </a:xfrm>
          <a:prstGeom prst="rect">
            <a:avLst/>
          </a:prstGeom>
        </p:spPr>
      </p:pic>
      <p:sp>
        <p:nvSpPr>
          <p:cNvPr id="34" name="Text 23"/>
          <p:cNvSpPr/>
          <p:nvPr/>
        </p:nvSpPr>
        <p:spPr>
          <a:xfrm>
            <a:off x="7059168" y="4096512"/>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End-to-end dashboard development</a:t>
            </a:r>
            <a:endParaRPr lang="en-US" sz="1100" dirty="0"/>
          </a:p>
        </p:txBody>
      </p:sp>
      <p:sp>
        <p:nvSpPr>
          <p:cNvPr id="35" name="Shape 24"/>
          <p:cNvSpPr/>
          <p:nvPr/>
        </p:nvSpPr>
        <p:spPr>
          <a:xfrm>
            <a:off x="6455664" y="4919472"/>
            <a:ext cx="438912" cy="438912"/>
          </a:xfrm>
          <a:prstGeom prst="ellipse">
            <a:avLst/>
          </a:prstGeom>
          <a:solidFill>
            <a:srgbClr val="1C7293"/>
          </a:solidFill>
          <a:ln w="25400">
            <a:solidFill>
              <a:srgbClr val="FFFFFF"/>
            </a:solidFill>
            <a:prstDash val="solid"/>
          </a:ln>
        </p:spPr>
      </p:sp>
      <p:pic>
        <p:nvPicPr>
          <p:cNvPr id="36" name="Image 9" descr="/home/claude/brickview/icons/gitBranch_w.png"/>
          <p:cNvPicPr>
            <a:picLocks noChangeAspect="1"/>
          </p:cNvPicPr>
          <p:nvPr/>
        </p:nvPicPr>
        <p:blipFill>
          <a:blip r:embed="rId4"/>
          <a:stretch>
            <a:fillRect/>
          </a:stretch>
        </p:blipFill>
        <p:spPr>
          <a:xfrm>
            <a:off x="6537960" y="5001768"/>
            <a:ext cx="274320" cy="274320"/>
          </a:xfrm>
          <a:prstGeom prst="rect">
            <a:avLst/>
          </a:prstGeom>
        </p:spPr>
      </p:pic>
      <p:sp>
        <p:nvSpPr>
          <p:cNvPr id="37" name="Text 25"/>
          <p:cNvSpPr/>
          <p:nvPr/>
        </p:nvSpPr>
        <p:spPr>
          <a:xfrm>
            <a:off x="7059168" y="4846320"/>
            <a:ext cx="4434840" cy="585216"/>
          </a:xfrm>
          <a:prstGeom prst="rect">
            <a:avLst/>
          </a:prstGeom>
          <a:noFill/>
          <a:ln/>
        </p:spPr>
        <p:txBody>
          <a:bodyPr wrap="square" rtlCol="0" anchor="ctr"/>
          <a:lstStyle/>
          <a:p>
            <a:pPr marL="0" indent="0">
              <a:buNone/>
            </a:pPr>
            <a:r>
              <a:rPr lang="en-US" sz="1100" dirty="0">
                <a:solidFill>
                  <a:srgbClr val="16263B"/>
                </a:solidFill>
                <a:latin typeface="Calibri" pitchFamily="34" charset="0"/>
                <a:ea typeface="Calibri" pitchFamily="34" charset="-122"/>
                <a:cs typeface="Calibri" pitchFamily="34" charset="-120"/>
              </a:rPr>
              <a:t>Version control with Git &amp; GitHub</a:t>
            </a:r>
            <a:endParaRPr lang="en-US" sz="1100" dirty="0"/>
          </a:p>
        </p:txBody>
      </p:sp>
      <p:sp>
        <p:nvSpPr>
          <p:cNvPr id="38" name="Shape 26"/>
          <p:cNvSpPr/>
          <p:nvPr/>
        </p:nvSpPr>
        <p:spPr>
          <a:xfrm>
            <a:off x="6094476" y="1554480"/>
            <a:ext cx="0" cy="4206240"/>
          </a:xfrm>
          <a:prstGeom prst="line">
            <a:avLst/>
          </a:prstGeom>
          <a:noFill/>
          <a:ln w="12700">
            <a:solidFill>
              <a:srgbClr val="D8E4EE"/>
            </a:solidFill>
            <a:prstDash val="solid"/>
          </a:ln>
        </p:spPr>
      </p:sp>
      <p:sp>
        <p:nvSpPr>
          <p:cNvPr id="39" name="Text 27"/>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Challenges &amp; Learning Outcomes</a:t>
            </a:r>
            <a:endParaRPr lang="en-US" sz="900" dirty="0"/>
          </a:p>
        </p:txBody>
      </p:sp>
      <p:sp>
        <p:nvSpPr>
          <p:cNvPr id="40"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
        <p:nvSpPr>
          <p:cNvPr id="41" name="Text 29"/>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02920"/>
            <a:ext cx="5486400" cy="292608"/>
          </a:xfrm>
          <a:prstGeom prst="rect">
            <a:avLst/>
          </a:prstGeom>
          <a:noFill/>
          <a:ln/>
        </p:spPr>
        <p:txBody>
          <a:bodyPr wrap="square" rtlCol="0" anchor="ctr"/>
          <a:lstStyle/>
          <a:p>
            <a:pPr marL="0" indent="0">
              <a:buNone/>
            </a:pPr>
            <a:r>
              <a:rPr lang="en-US" sz="1250" b="1" kern="0" spc="200" dirty="0">
                <a:solidFill>
                  <a:srgbClr val="3F8FC4"/>
                </a:solidFill>
                <a:latin typeface="Calibri" pitchFamily="34" charset="0"/>
                <a:ea typeface="Calibri" pitchFamily="34" charset="-122"/>
                <a:cs typeface="Calibri" pitchFamily="34" charset="-120"/>
              </a:rPr>
              <a:t>WRAPPING UP</a:t>
            </a:r>
            <a:endParaRPr lang="en-US" sz="1250" dirty="0"/>
          </a:p>
        </p:txBody>
      </p:sp>
      <p:sp>
        <p:nvSpPr>
          <p:cNvPr id="3" name="Text 1"/>
          <p:cNvSpPr/>
          <p:nvPr/>
        </p:nvSpPr>
        <p:spPr>
          <a:xfrm>
            <a:off x="548640" y="758952"/>
            <a:ext cx="7315200" cy="658368"/>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548640" y="1508760"/>
            <a:ext cx="10424160" cy="411480"/>
          </a:xfrm>
          <a:prstGeom prst="rect">
            <a:avLst/>
          </a:prstGeom>
          <a:noFill/>
          <a:ln/>
        </p:spPr>
        <p:txBody>
          <a:bodyPr wrap="square" rtlCol="0" anchor="ctr"/>
          <a:lstStyle/>
          <a:p>
            <a:pPr marL="0" indent="0">
              <a:buNone/>
            </a:pPr>
            <a:r>
              <a:rPr lang="en-US" sz="1350" dirty="0">
                <a:solidFill>
                  <a:srgbClr val="F4F8FB"/>
                </a:solidFill>
                <a:latin typeface="Calibri" pitchFamily="34" charset="0"/>
                <a:ea typeface="Calibri" pitchFamily="34" charset="-122"/>
                <a:cs typeface="Calibri" pitchFamily="34" charset="-120"/>
              </a:rPr>
              <a:t>BrickView successfully delivers a complete, data-driven real estate analytics experience:</a:t>
            </a:r>
            <a:endParaRPr lang="en-US" sz="1350" dirty="0"/>
          </a:p>
        </p:txBody>
      </p:sp>
      <p:sp>
        <p:nvSpPr>
          <p:cNvPr id="5" name="Shape 3"/>
          <p:cNvSpPr/>
          <p:nvPr/>
        </p:nvSpPr>
        <p:spPr>
          <a:xfrm>
            <a:off x="548640" y="2148840"/>
            <a:ext cx="2084832" cy="2331720"/>
          </a:xfrm>
          <a:prstGeom prst="roundRect">
            <a:avLst>
              <a:gd name="adj" fmla="val 3947"/>
            </a:avLst>
          </a:prstGeom>
          <a:solidFill>
            <a:srgbClr val="12365A"/>
          </a:solidFill>
          <a:ln w="12700">
            <a:solidFill>
              <a:srgbClr val="1C7293"/>
            </a:solidFill>
            <a:prstDash val="solid"/>
          </a:ln>
        </p:spPr>
      </p:sp>
      <p:sp>
        <p:nvSpPr>
          <p:cNvPr id="6" name="Shape 4"/>
          <p:cNvSpPr/>
          <p:nvPr/>
        </p:nvSpPr>
        <p:spPr>
          <a:xfrm>
            <a:off x="1243584" y="2441448"/>
            <a:ext cx="694944" cy="694944"/>
          </a:xfrm>
          <a:prstGeom prst="ellipse">
            <a:avLst/>
          </a:prstGeom>
          <a:solidFill>
            <a:srgbClr val="0E5C8A"/>
          </a:solidFill>
          <a:ln/>
        </p:spPr>
      </p:sp>
      <p:pic>
        <p:nvPicPr>
          <p:cNvPr id="7" name="Image 0" descr="/home/claude/brickview/icons/monitor_w.png"/>
          <p:cNvPicPr>
            <a:picLocks noChangeAspect="1"/>
          </p:cNvPicPr>
          <p:nvPr/>
        </p:nvPicPr>
        <p:blipFill>
          <a:blip r:embed="rId3"/>
          <a:stretch>
            <a:fillRect/>
          </a:stretch>
        </p:blipFill>
        <p:spPr>
          <a:xfrm>
            <a:off x="1333927" y="2531791"/>
            <a:ext cx="514259" cy="514259"/>
          </a:xfrm>
          <a:prstGeom prst="rect">
            <a:avLst/>
          </a:prstGeom>
        </p:spPr>
      </p:pic>
      <p:pic>
        <p:nvPicPr>
          <p:cNvPr id="8" name="Image 1" descr="/home/claude/brickview/icons/checkCircle_w.png"/>
          <p:cNvPicPr>
            <a:picLocks noChangeAspect="1"/>
          </p:cNvPicPr>
          <p:nvPr/>
        </p:nvPicPr>
        <p:blipFill>
          <a:blip r:embed="rId4"/>
          <a:stretch>
            <a:fillRect/>
          </a:stretch>
        </p:blipFill>
        <p:spPr>
          <a:xfrm>
            <a:off x="2249424" y="2240280"/>
            <a:ext cx="274320" cy="274320"/>
          </a:xfrm>
          <a:prstGeom prst="rect">
            <a:avLst/>
          </a:prstGeom>
        </p:spPr>
      </p:pic>
      <p:sp>
        <p:nvSpPr>
          <p:cNvPr id="9" name="Text 5"/>
          <p:cNvSpPr/>
          <p:nvPr/>
        </p:nvSpPr>
        <p:spPr>
          <a:xfrm>
            <a:off x="658368" y="3291840"/>
            <a:ext cx="1865376" cy="1005840"/>
          </a:xfrm>
          <a:prstGeom prst="rect">
            <a:avLst/>
          </a:prstGeom>
          <a:noFill/>
          <a:ln/>
        </p:spPr>
        <p:txBody>
          <a:bodyPr wrap="square" rtlCol="0" anchor="t"/>
          <a:lstStyle/>
          <a:p>
            <a:pPr marL="0" indent="0" algn="ctr">
              <a:buNone/>
            </a:pPr>
            <a:r>
              <a:rPr lang="en-US" sz="1250" b="1" dirty="0">
                <a:solidFill>
                  <a:srgbClr val="FFFFFF"/>
                </a:solidFill>
                <a:latin typeface="Cambria" pitchFamily="34" charset="0"/>
                <a:ea typeface="Cambria" pitchFamily="34" charset="-122"/>
                <a:cs typeface="Cambria" pitchFamily="34" charset="-120"/>
              </a:rPr>
              <a:t>Interactive Dashboard</a:t>
            </a:r>
            <a:endParaRPr lang="en-US" sz="1250" dirty="0"/>
          </a:p>
        </p:txBody>
      </p:sp>
      <p:sp>
        <p:nvSpPr>
          <p:cNvPr id="10" name="Shape 6"/>
          <p:cNvSpPr/>
          <p:nvPr/>
        </p:nvSpPr>
        <p:spPr>
          <a:xfrm>
            <a:off x="2779776" y="2148840"/>
            <a:ext cx="2084832" cy="2331720"/>
          </a:xfrm>
          <a:prstGeom prst="roundRect">
            <a:avLst>
              <a:gd name="adj" fmla="val 3947"/>
            </a:avLst>
          </a:prstGeom>
          <a:solidFill>
            <a:srgbClr val="12365A"/>
          </a:solidFill>
          <a:ln w="12700">
            <a:solidFill>
              <a:srgbClr val="1C7293"/>
            </a:solidFill>
            <a:prstDash val="solid"/>
          </a:ln>
        </p:spPr>
      </p:sp>
      <p:sp>
        <p:nvSpPr>
          <p:cNvPr id="11" name="Shape 7"/>
          <p:cNvSpPr/>
          <p:nvPr/>
        </p:nvSpPr>
        <p:spPr>
          <a:xfrm>
            <a:off x="3474720" y="2441448"/>
            <a:ext cx="694944" cy="694944"/>
          </a:xfrm>
          <a:prstGeom prst="ellipse">
            <a:avLst/>
          </a:prstGeom>
          <a:solidFill>
            <a:srgbClr val="0E5C8A"/>
          </a:solidFill>
          <a:ln/>
        </p:spPr>
      </p:sp>
      <p:pic>
        <p:nvPicPr>
          <p:cNvPr id="12" name="Image 2" descr="/home/claude/brickview/icons/barchart_w.png"/>
          <p:cNvPicPr>
            <a:picLocks noChangeAspect="1"/>
          </p:cNvPicPr>
          <p:nvPr/>
        </p:nvPicPr>
        <p:blipFill>
          <a:blip r:embed="rId5"/>
          <a:stretch>
            <a:fillRect/>
          </a:stretch>
        </p:blipFill>
        <p:spPr>
          <a:xfrm>
            <a:off x="3565063" y="2531791"/>
            <a:ext cx="514259" cy="514259"/>
          </a:xfrm>
          <a:prstGeom prst="rect">
            <a:avLst/>
          </a:prstGeom>
        </p:spPr>
      </p:pic>
      <p:pic>
        <p:nvPicPr>
          <p:cNvPr id="13" name="Image 3" descr="/home/claude/brickview/icons/checkCircle_w.png"/>
          <p:cNvPicPr>
            <a:picLocks noChangeAspect="1"/>
          </p:cNvPicPr>
          <p:nvPr/>
        </p:nvPicPr>
        <p:blipFill>
          <a:blip r:embed="rId4"/>
          <a:stretch>
            <a:fillRect/>
          </a:stretch>
        </p:blipFill>
        <p:spPr>
          <a:xfrm>
            <a:off x="4480560" y="2240280"/>
            <a:ext cx="274320" cy="274320"/>
          </a:xfrm>
          <a:prstGeom prst="rect">
            <a:avLst/>
          </a:prstGeom>
        </p:spPr>
      </p:pic>
      <p:sp>
        <p:nvSpPr>
          <p:cNvPr id="14" name="Text 8"/>
          <p:cNvSpPr/>
          <p:nvPr/>
        </p:nvSpPr>
        <p:spPr>
          <a:xfrm>
            <a:off x="2889504" y="3291840"/>
            <a:ext cx="1865376" cy="1005840"/>
          </a:xfrm>
          <a:prstGeom prst="rect">
            <a:avLst/>
          </a:prstGeom>
          <a:noFill/>
          <a:ln/>
        </p:spPr>
        <p:txBody>
          <a:bodyPr wrap="square" rtlCol="0" anchor="t"/>
          <a:lstStyle/>
          <a:p>
            <a:pPr marL="0" indent="0" algn="ctr">
              <a:buNone/>
            </a:pPr>
            <a:r>
              <a:rPr lang="en-US" sz="1250" b="1" dirty="0">
                <a:solidFill>
                  <a:srgbClr val="FFFFFF"/>
                </a:solidFill>
                <a:latin typeface="Cambria" pitchFamily="34" charset="0"/>
                <a:ea typeface="Cambria" pitchFamily="34" charset="-122"/>
                <a:cs typeface="Cambria" pitchFamily="34" charset="-120"/>
              </a:rPr>
              <a:t>Property Analytics</a:t>
            </a:r>
            <a:endParaRPr lang="en-US" sz="1250" dirty="0"/>
          </a:p>
        </p:txBody>
      </p:sp>
      <p:sp>
        <p:nvSpPr>
          <p:cNvPr id="15" name="Shape 9"/>
          <p:cNvSpPr/>
          <p:nvPr/>
        </p:nvSpPr>
        <p:spPr>
          <a:xfrm>
            <a:off x="5010912" y="2148840"/>
            <a:ext cx="2084832" cy="2331720"/>
          </a:xfrm>
          <a:prstGeom prst="roundRect">
            <a:avLst>
              <a:gd name="adj" fmla="val 3947"/>
            </a:avLst>
          </a:prstGeom>
          <a:solidFill>
            <a:srgbClr val="12365A"/>
          </a:solidFill>
          <a:ln w="12700">
            <a:solidFill>
              <a:srgbClr val="1C7293"/>
            </a:solidFill>
            <a:prstDash val="solid"/>
          </a:ln>
        </p:spPr>
      </p:sp>
      <p:sp>
        <p:nvSpPr>
          <p:cNvPr id="16" name="Shape 10"/>
          <p:cNvSpPr/>
          <p:nvPr/>
        </p:nvSpPr>
        <p:spPr>
          <a:xfrm>
            <a:off x="5705856" y="2441448"/>
            <a:ext cx="694944" cy="694944"/>
          </a:xfrm>
          <a:prstGeom prst="ellipse">
            <a:avLst/>
          </a:prstGeom>
          <a:solidFill>
            <a:srgbClr val="0E5C8A"/>
          </a:solidFill>
          <a:ln/>
        </p:spPr>
      </p:sp>
      <p:pic>
        <p:nvPicPr>
          <p:cNvPr id="17" name="Image 4" descr="/home/claude/brickview/icons/edit_w.png"/>
          <p:cNvPicPr>
            <a:picLocks noChangeAspect="1"/>
          </p:cNvPicPr>
          <p:nvPr/>
        </p:nvPicPr>
        <p:blipFill>
          <a:blip r:embed="rId6"/>
          <a:stretch>
            <a:fillRect/>
          </a:stretch>
        </p:blipFill>
        <p:spPr>
          <a:xfrm>
            <a:off x="5796199" y="2531791"/>
            <a:ext cx="514259" cy="514259"/>
          </a:xfrm>
          <a:prstGeom prst="rect">
            <a:avLst/>
          </a:prstGeom>
        </p:spPr>
      </p:pic>
      <p:pic>
        <p:nvPicPr>
          <p:cNvPr id="18" name="Image 5" descr="/home/claude/brickview/icons/checkCircle_w.png"/>
          <p:cNvPicPr>
            <a:picLocks noChangeAspect="1"/>
          </p:cNvPicPr>
          <p:nvPr/>
        </p:nvPicPr>
        <p:blipFill>
          <a:blip r:embed="rId4"/>
          <a:stretch>
            <a:fillRect/>
          </a:stretch>
        </p:blipFill>
        <p:spPr>
          <a:xfrm>
            <a:off x="6711696" y="2240280"/>
            <a:ext cx="274320" cy="274320"/>
          </a:xfrm>
          <a:prstGeom prst="rect">
            <a:avLst/>
          </a:prstGeom>
        </p:spPr>
      </p:pic>
      <p:sp>
        <p:nvSpPr>
          <p:cNvPr id="19" name="Text 11"/>
          <p:cNvSpPr/>
          <p:nvPr/>
        </p:nvSpPr>
        <p:spPr>
          <a:xfrm>
            <a:off x="5120640" y="3291840"/>
            <a:ext cx="1865376" cy="1005840"/>
          </a:xfrm>
          <a:prstGeom prst="rect">
            <a:avLst/>
          </a:prstGeom>
          <a:noFill/>
          <a:ln/>
        </p:spPr>
        <p:txBody>
          <a:bodyPr wrap="square" rtlCol="0" anchor="t"/>
          <a:lstStyle/>
          <a:p>
            <a:pPr marL="0" indent="0" algn="ctr">
              <a:buNone/>
            </a:pPr>
            <a:r>
              <a:rPr lang="en-US" sz="1250" b="1" dirty="0">
                <a:solidFill>
                  <a:srgbClr val="FFFFFF"/>
                </a:solidFill>
                <a:latin typeface="Cambria" pitchFamily="34" charset="0"/>
                <a:ea typeface="Cambria" pitchFamily="34" charset="-122"/>
                <a:cs typeface="Cambria" pitchFamily="34" charset="-120"/>
              </a:rPr>
              <a:t>CRUD Operations</a:t>
            </a:r>
            <a:endParaRPr lang="en-US" sz="1250" dirty="0"/>
          </a:p>
        </p:txBody>
      </p:sp>
      <p:sp>
        <p:nvSpPr>
          <p:cNvPr id="20" name="Shape 12"/>
          <p:cNvSpPr/>
          <p:nvPr/>
        </p:nvSpPr>
        <p:spPr>
          <a:xfrm>
            <a:off x="7242048" y="2148840"/>
            <a:ext cx="2084832" cy="2331720"/>
          </a:xfrm>
          <a:prstGeom prst="roundRect">
            <a:avLst>
              <a:gd name="adj" fmla="val 3947"/>
            </a:avLst>
          </a:prstGeom>
          <a:solidFill>
            <a:srgbClr val="12365A"/>
          </a:solidFill>
          <a:ln w="12700">
            <a:solidFill>
              <a:srgbClr val="1C7293"/>
            </a:solidFill>
            <a:prstDash val="solid"/>
          </a:ln>
        </p:spPr>
      </p:sp>
      <p:sp>
        <p:nvSpPr>
          <p:cNvPr id="21" name="Shape 13"/>
          <p:cNvSpPr/>
          <p:nvPr/>
        </p:nvSpPr>
        <p:spPr>
          <a:xfrm>
            <a:off x="7936992" y="2441448"/>
            <a:ext cx="694944" cy="694944"/>
          </a:xfrm>
          <a:prstGeom prst="ellipse">
            <a:avLst/>
          </a:prstGeom>
          <a:solidFill>
            <a:srgbClr val="0E5C8A"/>
          </a:solidFill>
          <a:ln/>
        </p:spPr>
      </p:sp>
      <p:pic>
        <p:nvPicPr>
          <p:cNvPr id="22" name="Image 6" descr="/home/claude/brickview/icons/database_w.png"/>
          <p:cNvPicPr>
            <a:picLocks noChangeAspect="1"/>
          </p:cNvPicPr>
          <p:nvPr/>
        </p:nvPicPr>
        <p:blipFill>
          <a:blip r:embed="rId7"/>
          <a:stretch>
            <a:fillRect/>
          </a:stretch>
        </p:blipFill>
        <p:spPr>
          <a:xfrm>
            <a:off x="8027335" y="2531791"/>
            <a:ext cx="514259" cy="514259"/>
          </a:xfrm>
          <a:prstGeom prst="rect">
            <a:avLst/>
          </a:prstGeom>
        </p:spPr>
      </p:pic>
      <p:pic>
        <p:nvPicPr>
          <p:cNvPr id="23" name="Image 7" descr="/home/claude/brickview/icons/checkCircle_w.png"/>
          <p:cNvPicPr>
            <a:picLocks noChangeAspect="1"/>
          </p:cNvPicPr>
          <p:nvPr/>
        </p:nvPicPr>
        <p:blipFill>
          <a:blip r:embed="rId4"/>
          <a:stretch>
            <a:fillRect/>
          </a:stretch>
        </p:blipFill>
        <p:spPr>
          <a:xfrm>
            <a:off x="8942832" y="2240280"/>
            <a:ext cx="274320" cy="274320"/>
          </a:xfrm>
          <a:prstGeom prst="rect">
            <a:avLst/>
          </a:prstGeom>
        </p:spPr>
      </p:pic>
      <p:sp>
        <p:nvSpPr>
          <p:cNvPr id="24" name="Text 14"/>
          <p:cNvSpPr/>
          <p:nvPr/>
        </p:nvSpPr>
        <p:spPr>
          <a:xfrm>
            <a:off x="7351776" y="3291840"/>
            <a:ext cx="1865376" cy="1005840"/>
          </a:xfrm>
          <a:prstGeom prst="rect">
            <a:avLst/>
          </a:prstGeom>
          <a:noFill/>
          <a:ln/>
        </p:spPr>
        <p:txBody>
          <a:bodyPr wrap="square" rtlCol="0" anchor="t"/>
          <a:lstStyle/>
          <a:p>
            <a:pPr marL="0" indent="0" algn="ctr">
              <a:buNone/>
            </a:pPr>
            <a:r>
              <a:rPr lang="en-US" sz="1250" b="1" dirty="0">
                <a:solidFill>
                  <a:srgbClr val="FFFFFF"/>
                </a:solidFill>
                <a:latin typeface="Cambria" pitchFamily="34" charset="0"/>
                <a:ea typeface="Cambria" pitchFamily="34" charset="-122"/>
                <a:cs typeface="Cambria" pitchFamily="34" charset="-120"/>
              </a:rPr>
              <a:t>SQL Analytics</a:t>
            </a:r>
            <a:endParaRPr lang="en-US" sz="1250" dirty="0"/>
          </a:p>
        </p:txBody>
      </p:sp>
      <p:sp>
        <p:nvSpPr>
          <p:cNvPr id="25" name="Shape 15"/>
          <p:cNvSpPr/>
          <p:nvPr/>
        </p:nvSpPr>
        <p:spPr>
          <a:xfrm>
            <a:off x="9473184" y="2148840"/>
            <a:ext cx="2084832" cy="2331720"/>
          </a:xfrm>
          <a:prstGeom prst="roundRect">
            <a:avLst>
              <a:gd name="adj" fmla="val 3947"/>
            </a:avLst>
          </a:prstGeom>
          <a:solidFill>
            <a:srgbClr val="12365A"/>
          </a:solidFill>
          <a:ln w="12700">
            <a:solidFill>
              <a:srgbClr val="1C7293"/>
            </a:solidFill>
            <a:prstDash val="solid"/>
          </a:ln>
        </p:spPr>
      </p:sp>
      <p:sp>
        <p:nvSpPr>
          <p:cNvPr id="26" name="Shape 16"/>
          <p:cNvSpPr/>
          <p:nvPr/>
        </p:nvSpPr>
        <p:spPr>
          <a:xfrm>
            <a:off x="10168128" y="2441448"/>
            <a:ext cx="694944" cy="694944"/>
          </a:xfrm>
          <a:prstGeom prst="ellipse">
            <a:avLst/>
          </a:prstGeom>
          <a:solidFill>
            <a:srgbClr val="0E5C8A"/>
          </a:solidFill>
          <a:ln/>
        </p:spPr>
      </p:sp>
      <p:pic>
        <p:nvPicPr>
          <p:cNvPr id="27" name="Image 8" descr="/home/claude/brickview/icons/refreshCw_w.png"/>
          <p:cNvPicPr>
            <a:picLocks noChangeAspect="1"/>
          </p:cNvPicPr>
          <p:nvPr/>
        </p:nvPicPr>
        <p:blipFill>
          <a:blip r:embed="rId8"/>
          <a:stretch>
            <a:fillRect/>
          </a:stretch>
        </p:blipFill>
        <p:spPr>
          <a:xfrm>
            <a:off x="10258471" y="2531791"/>
            <a:ext cx="514259" cy="514259"/>
          </a:xfrm>
          <a:prstGeom prst="rect">
            <a:avLst/>
          </a:prstGeom>
        </p:spPr>
      </p:pic>
      <p:pic>
        <p:nvPicPr>
          <p:cNvPr id="28" name="Image 9" descr="/home/claude/brickview/icons/checkCircle_w.png"/>
          <p:cNvPicPr>
            <a:picLocks noChangeAspect="1"/>
          </p:cNvPicPr>
          <p:nvPr/>
        </p:nvPicPr>
        <p:blipFill>
          <a:blip r:embed="rId4"/>
          <a:stretch>
            <a:fillRect/>
          </a:stretch>
        </p:blipFill>
        <p:spPr>
          <a:xfrm>
            <a:off x="11173968" y="2240280"/>
            <a:ext cx="274320" cy="274320"/>
          </a:xfrm>
          <a:prstGeom prst="rect">
            <a:avLst/>
          </a:prstGeom>
        </p:spPr>
      </p:pic>
      <p:sp>
        <p:nvSpPr>
          <p:cNvPr id="29" name="Text 17"/>
          <p:cNvSpPr/>
          <p:nvPr/>
        </p:nvSpPr>
        <p:spPr>
          <a:xfrm>
            <a:off x="9582912" y="3291840"/>
            <a:ext cx="1865376" cy="1005840"/>
          </a:xfrm>
          <a:prstGeom prst="rect">
            <a:avLst/>
          </a:prstGeom>
          <a:noFill/>
          <a:ln/>
        </p:spPr>
        <p:txBody>
          <a:bodyPr wrap="square" rtlCol="0" anchor="t"/>
          <a:lstStyle/>
          <a:p>
            <a:pPr marL="0" indent="0" algn="ctr">
              <a:buNone/>
            </a:pPr>
            <a:r>
              <a:rPr lang="en-US" sz="1250" b="1" dirty="0">
                <a:solidFill>
                  <a:srgbClr val="FFFFFF"/>
                </a:solidFill>
                <a:latin typeface="Cambria" pitchFamily="34" charset="0"/>
                <a:ea typeface="Cambria" pitchFamily="34" charset="-122"/>
                <a:cs typeface="Cambria" pitchFamily="34" charset="-120"/>
              </a:rPr>
              <a:t>Real-time Data Exploration</a:t>
            </a:r>
            <a:endParaRPr lang="en-US" sz="1250" dirty="0"/>
          </a:p>
        </p:txBody>
      </p:sp>
      <p:sp>
        <p:nvSpPr>
          <p:cNvPr id="30" name="Shape 18"/>
          <p:cNvSpPr/>
          <p:nvPr/>
        </p:nvSpPr>
        <p:spPr>
          <a:xfrm>
            <a:off x="548640" y="4846320"/>
            <a:ext cx="11064240" cy="0"/>
          </a:xfrm>
          <a:prstGeom prst="line">
            <a:avLst/>
          </a:prstGeom>
          <a:noFill/>
          <a:ln w="9525">
            <a:solidFill>
              <a:srgbClr val="1C7293">
                <a:alpha val="60000"/>
              </a:srgbClr>
            </a:solidFill>
            <a:prstDash val="solid"/>
          </a:ln>
        </p:spPr>
      </p:sp>
      <p:sp>
        <p:nvSpPr>
          <p:cNvPr id="31" name="Text 19"/>
          <p:cNvSpPr/>
          <p:nvPr/>
        </p:nvSpPr>
        <p:spPr>
          <a:xfrm>
            <a:off x="548640" y="5029200"/>
            <a:ext cx="11064240" cy="640080"/>
          </a:xfrm>
          <a:prstGeom prst="rect">
            <a:avLst/>
          </a:prstGeom>
          <a:noFill/>
          <a:ln/>
        </p:spPr>
        <p:txBody>
          <a:bodyPr wrap="square" rtlCol="0" anchor="ctr"/>
          <a:lstStyle/>
          <a:p>
            <a:pPr marL="0" indent="0" algn="ctr">
              <a:buNone/>
            </a:pPr>
            <a:r>
              <a:rPr lang="en-US" sz="1400" i="1" dirty="0">
                <a:solidFill>
                  <a:srgbClr val="F4F8FB"/>
                </a:solidFill>
                <a:latin typeface="Calibri" pitchFamily="34" charset="0"/>
                <a:ea typeface="Calibri" pitchFamily="34" charset="-122"/>
                <a:cs typeface="Calibri" pitchFamily="34" charset="-120"/>
              </a:rPr>
              <a:t>Together, these components turn scattered real estate data into a single platform for exploration, management, and business insight.</a:t>
            </a:r>
            <a:endParaRPr lang="en-US" sz="1400" dirty="0"/>
          </a:p>
        </p:txBody>
      </p:sp>
      <p:sp>
        <p:nvSpPr>
          <p:cNvPr id="32" name="Text 20"/>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Conclusion</a:t>
            </a:r>
            <a:endParaRPr lang="en-US" sz="900" dirty="0"/>
          </a:p>
        </p:txBody>
      </p:sp>
      <p:sp>
        <p:nvSpPr>
          <p:cNvPr id="3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
        <p:nvSpPr>
          <p:cNvPr id="34" name="Text 22"/>
          <p:cNvSpPr/>
          <p:nvPr/>
        </p:nvSpPr>
        <p:spPr>
          <a:xfrm>
            <a:off x="4722876" y="6473952"/>
            <a:ext cx="2743200" cy="274320"/>
          </a:xfrm>
          <a:prstGeom prst="rect">
            <a:avLst/>
          </a:prstGeom>
          <a:noFill/>
          <a:ln/>
        </p:spPr>
        <p:txBody>
          <a:bodyPr wrap="square" rtlCol="0" anchor="ctr"/>
          <a:lstStyle/>
          <a:p>
            <a:pPr marL="0" indent="0" algn="ctr">
              <a:buNone/>
            </a:pPr>
            <a:r>
              <a:rPr lang="en-US" sz="900" dirty="0">
                <a:solidFill>
                  <a:srgbClr val="5B6B7C"/>
                </a:solidFill>
                <a:latin typeface="Calibri" pitchFamily="34" charset="0"/>
                <a:ea typeface="Calibri" pitchFamily="34" charset="-122"/>
                <a:cs typeface="Calibri" pitchFamily="34" charset="-120"/>
              </a:rPr>
              <a:t>BrickView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852160"/>
            <a:ext cx="365760" cy="1005840"/>
          </a:xfrm>
          <a:prstGeom prst="rect">
            <a:avLst/>
          </a:prstGeom>
          <a:solidFill>
            <a:srgbClr val="0E5C8A">
              <a:alpha val="20000"/>
            </a:srgbClr>
          </a:solidFill>
          <a:ln/>
        </p:spPr>
      </p:sp>
      <p:sp>
        <p:nvSpPr>
          <p:cNvPr id="3" name="Shape 1"/>
          <p:cNvSpPr/>
          <p:nvPr/>
        </p:nvSpPr>
        <p:spPr>
          <a:xfrm>
            <a:off x="960120" y="5394960"/>
            <a:ext cx="365760" cy="1463040"/>
          </a:xfrm>
          <a:prstGeom prst="rect">
            <a:avLst/>
          </a:prstGeom>
          <a:solidFill>
            <a:srgbClr val="0E5C8A">
              <a:alpha val="20000"/>
            </a:srgbClr>
          </a:solidFill>
          <a:ln/>
        </p:spPr>
      </p:sp>
      <p:sp>
        <p:nvSpPr>
          <p:cNvPr id="4" name="Shape 2"/>
          <p:cNvSpPr/>
          <p:nvPr/>
        </p:nvSpPr>
        <p:spPr>
          <a:xfrm>
            <a:off x="1371600" y="5669280"/>
            <a:ext cx="365760" cy="1188720"/>
          </a:xfrm>
          <a:prstGeom prst="rect">
            <a:avLst/>
          </a:prstGeom>
          <a:solidFill>
            <a:srgbClr val="0E5C8A">
              <a:alpha val="20000"/>
            </a:srgbClr>
          </a:solidFill>
          <a:ln/>
        </p:spPr>
      </p:sp>
      <p:sp>
        <p:nvSpPr>
          <p:cNvPr id="5" name="Shape 3"/>
          <p:cNvSpPr/>
          <p:nvPr/>
        </p:nvSpPr>
        <p:spPr>
          <a:xfrm>
            <a:off x="10241280" y="5577840"/>
            <a:ext cx="365760" cy="1280160"/>
          </a:xfrm>
          <a:prstGeom prst="rect">
            <a:avLst/>
          </a:prstGeom>
          <a:solidFill>
            <a:srgbClr val="0E5C8A">
              <a:alpha val="20000"/>
            </a:srgbClr>
          </a:solidFill>
          <a:ln/>
        </p:spPr>
      </p:sp>
      <p:sp>
        <p:nvSpPr>
          <p:cNvPr id="6" name="Shape 4"/>
          <p:cNvSpPr/>
          <p:nvPr/>
        </p:nvSpPr>
        <p:spPr>
          <a:xfrm>
            <a:off x="10652760" y="5120640"/>
            <a:ext cx="365760" cy="1737360"/>
          </a:xfrm>
          <a:prstGeom prst="rect">
            <a:avLst/>
          </a:prstGeom>
          <a:solidFill>
            <a:srgbClr val="0E5C8A">
              <a:alpha val="20000"/>
            </a:srgbClr>
          </a:solidFill>
          <a:ln/>
        </p:spPr>
      </p:sp>
      <p:sp>
        <p:nvSpPr>
          <p:cNvPr id="7" name="Shape 5"/>
          <p:cNvSpPr/>
          <p:nvPr/>
        </p:nvSpPr>
        <p:spPr>
          <a:xfrm>
            <a:off x="11064240" y="5760720"/>
            <a:ext cx="365760" cy="1097280"/>
          </a:xfrm>
          <a:prstGeom prst="rect">
            <a:avLst/>
          </a:prstGeom>
          <a:solidFill>
            <a:srgbClr val="0E5C8A">
              <a:alpha val="20000"/>
            </a:srgbClr>
          </a:solidFill>
          <a:ln/>
        </p:spPr>
      </p:sp>
      <p:sp>
        <p:nvSpPr>
          <p:cNvPr id="8" name="Shape 6"/>
          <p:cNvSpPr/>
          <p:nvPr/>
        </p:nvSpPr>
        <p:spPr>
          <a:xfrm>
            <a:off x="11475720" y="5394960"/>
            <a:ext cx="365760" cy="1463040"/>
          </a:xfrm>
          <a:prstGeom prst="rect">
            <a:avLst/>
          </a:prstGeom>
          <a:solidFill>
            <a:srgbClr val="0E5C8A">
              <a:alpha val="20000"/>
            </a:srgbClr>
          </a:solidFill>
          <a:ln/>
        </p:spPr>
      </p:sp>
      <p:sp>
        <p:nvSpPr>
          <p:cNvPr id="9" name="Shape 7"/>
          <p:cNvSpPr/>
          <p:nvPr/>
        </p:nvSpPr>
        <p:spPr>
          <a:xfrm>
            <a:off x="5591556" y="1417320"/>
            <a:ext cx="1005840" cy="1005840"/>
          </a:xfrm>
          <a:prstGeom prst="ellipse">
            <a:avLst/>
          </a:prstGeom>
          <a:solidFill>
            <a:srgbClr val="0E5C8A"/>
          </a:solidFill>
          <a:ln/>
        </p:spPr>
      </p:sp>
      <p:pic>
        <p:nvPicPr>
          <p:cNvPr id="10" name="Image 0" descr="/home/claude/brickview/icons/building_w.png"/>
          <p:cNvPicPr>
            <a:picLocks noChangeAspect="1"/>
          </p:cNvPicPr>
          <p:nvPr/>
        </p:nvPicPr>
        <p:blipFill>
          <a:blip r:embed="rId3"/>
          <a:stretch>
            <a:fillRect/>
          </a:stretch>
        </p:blipFill>
        <p:spPr>
          <a:xfrm>
            <a:off x="5765292" y="1591056"/>
            <a:ext cx="658368" cy="658368"/>
          </a:xfrm>
          <a:prstGeom prst="rect">
            <a:avLst/>
          </a:prstGeom>
        </p:spPr>
      </p:pic>
      <p:sp>
        <p:nvSpPr>
          <p:cNvPr id="11" name="Text 8"/>
          <p:cNvSpPr/>
          <p:nvPr/>
        </p:nvSpPr>
        <p:spPr>
          <a:xfrm>
            <a:off x="0" y="2788920"/>
            <a:ext cx="12188952" cy="91440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12" name="Text 9"/>
          <p:cNvSpPr/>
          <p:nvPr/>
        </p:nvSpPr>
        <p:spPr>
          <a:xfrm>
            <a:off x="0" y="3611880"/>
            <a:ext cx="12188952" cy="457200"/>
          </a:xfrm>
          <a:prstGeom prst="rect">
            <a:avLst/>
          </a:prstGeom>
          <a:noFill/>
          <a:ln/>
        </p:spPr>
        <p:txBody>
          <a:bodyPr wrap="square" rtlCol="0" anchor="ctr"/>
          <a:lstStyle/>
          <a:p>
            <a:pPr marL="0" indent="0" algn="ctr">
              <a:buNone/>
            </a:pPr>
            <a:r>
              <a:rPr lang="en-US" sz="1600" dirty="0">
                <a:solidFill>
                  <a:srgbClr val="3F8FC4"/>
                </a:solidFill>
                <a:latin typeface="Calibri" pitchFamily="34" charset="0"/>
                <a:ea typeface="Calibri" pitchFamily="34" charset="-122"/>
                <a:cs typeface="Calibri" pitchFamily="34" charset="-120"/>
              </a:rPr>
              <a:t>BrickView – Real Estate Analytics Platform</a:t>
            </a:r>
            <a:endParaRPr lang="en-US" sz="1600" dirty="0"/>
          </a:p>
        </p:txBody>
      </p:sp>
      <p:sp>
        <p:nvSpPr>
          <p:cNvPr id="13" name="Shape 10"/>
          <p:cNvSpPr/>
          <p:nvPr/>
        </p:nvSpPr>
        <p:spPr>
          <a:xfrm>
            <a:off x="4722876" y="4251960"/>
            <a:ext cx="2743200" cy="0"/>
          </a:xfrm>
          <a:prstGeom prst="line">
            <a:avLst/>
          </a:prstGeom>
          <a:noFill/>
          <a:ln w="25400">
            <a:solidFill>
              <a:srgbClr val="17A398"/>
            </a:solidFill>
            <a:prstDash val="solid"/>
          </a:ln>
        </p:spPr>
      </p:sp>
      <p:sp>
        <p:nvSpPr>
          <p:cNvPr id="14" name="Text 11"/>
          <p:cNvSpPr/>
          <p:nvPr/>
        </p:nvSpPr>
        <p:spPr>
          <a:xfrm>
            <a:off x="0" y="4434840"/>
            <a:ext cx="12188952"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Shabitha Sree S</a:t>
            </a:r>
            <a:endParaRPr lang="en-US" sz="1400" dirty="0"/>
          </a:p>
        </p:txBody>
      </p:sp>
      <p:sp>
        <p:nvSpPr>
          <p:cNvPr id="15" name="Text 12"/>
          <p:cNvSpPr/>
          <p:nvPr/>
        </p:nvSpPr>
        <p:spPr>
          <a:xfrm>
            <a:off x="0" y="4800600"/>
            <a:ext cx="12188952" cy="320040"/>
          </a:xfrm>
          <a:prstGeom prst="rect">
            <a:avLst/>
          </a:prstGeom>
          <a:noFill/>
          <a:ln/>
        </p:spPr>
        <p:txBody>
          <a:bodyPr wrap="square" rtlCol="0" anchor="ctr"/>
          <a:lstStyle/>
          <a:p>
            <a:pPr marL="0" indent="0" algn="ctr">
              <a:buNone/>
            </a:pPr>
            <a:r>
              <a:rPr lang="en-US" sz="1100" i="1" dirty="0">
                <a:solidFill>
                  <a:srgbClr val="5B6B7C"/>
                </a:solidFill>
                <a:latin typeface="Calibri" pitchFamily="34" charset="0"/>
                <a:ea typeface="Calibri" pitchFamily="34" charset="-122"/>
                <a:cs typeface="Calibri" pitchFamily="34" charset="-120"/>
              </a:rPr>
              <a:t>github.com/shabithasree3-creator/BrickView-Real-Estate-Analytics</a:t>
            </a:r>
            <a:endParaRPr lang="en-US" sz="1100" dirty="0"/>
          </a:p>
        </p:txBody>
      </p:sp>
      <p:sp>
        <p:nvSpPr>
          <p:cNvPr id="16" name="Text 13"/>
          <p:cNvSpPr/>
          <p:nvPr/>
        </p:nvSpPr>
        <p:spPr>
          <a:xfrm>
            <a:off x="0" y="5623560"/>
            <a:ext cx="12188952" cy="365760"/>
          </a:xfrm>
          <a:prstGeom prst="rect">
            <a:avLst/>
          </a:prstGeom>
          <a:noFill/>
          <a:ln/>
        </p:spPr>
        <p:txBody>
          <a:bodyPr wrap="square" rtlCol="0" anchor="ctr"/>
          <a:lstStyle/>
          <a:p>
            <a:pPr marL="0" indent="0" algn="ctr">
              <a:buNone/>
            </a:pPr>
            <a:r>
              <a:rPr lang="en-US" sz="1250" dirty="0">
                <a:solidFill>
                  <a:srgbClr val="F4F8FB"/>
                </a:solidFill>
                <a:latin typeface="Calibri" pitchFamily="34" charset="0"/>
                <a:ea typeface="Calibri" pitchFamily="34" charset="-122"/>
                <a:cs typeface="Calibri" pitchFamily="34" charset="-120"/>
              </a:rPr>
              <a:t>Questions &amp; Discussion Welcome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644</TotalTime>
  <Words>1654</Words>
  <Application>Microsoft Office PowerPoint</Application>
  <PresentationFormat>Widescreen</PresentationFormat>
  <Paragraphs>188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5</cp:revision>
  <dcterms:created xsi:type="dcterms:W3CDTF">2026-07-27T20:31:51Z</dcterms:created>
  <dcterms:modified xsi:type="dcterms:W3CDTF">2026-07-28T07:42:13Z</dcterms:modified>
</cp:coreProperties>
</file>